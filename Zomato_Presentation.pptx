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6F5"/>
    <a:srgbClr val="990011"/>
    <a:srgbClr val="6B00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55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hili\OneDrive\Desktop\Template%20(Zomato)1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hili\OneDrive\Desktop\Template%20(Zomato)11.xlsx" TargetMode="Externa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[Template (Zomato)11.xlsx]Sheet1!PivotTable4</c:name>
    <c:fmtId val="20"/>
  </c:pivotSource>
  <c:chart>
    <c:autoTitleDeleted val="1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8704807966860535"/>
          <c:y val="0.15183323144018687"/>
          <c:w val="0.65658432156749824"/>
          <c:h val="0.7226139865012710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Sheet1!$B$19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E23744"/>
            </a:solidFill>
            <a:ln w="12700" cap="flat" cmpd="sng" algn="ctr">
              <a:solidFill>
                <a:srgbClr val="E23744"/>
              </a:solidFill>
              <a:prstDash val="solid"/>
              <a:miter lim="800000"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Sheet1!$A$20:$A$27</c:f>
              <c:strCache>
                <c:ptCount val="7"/>
                <c:pt idx="0">
                  <c:v>Brazil</c:v>
                </c:pt>
                <c:pt idx="1">
                  <c:v>India</c:v>
                </c:pt>
                <c:pt idx="2">
                  <c:v>New Zealand</c:v>
                </c:pt>
                <c:pt idx="3">
                  <c:v>South Africa</c:v>
                </c:pt>
                <c:pt idx="4">
                  <c:v>United Arab Emirates</c:v>
                </c:pt>
                <c:pt idx="5">
                  <c:v>United Kingdom</c:v>
                </c:pt>
                <c:pt idx="6">
                  <c:v>United States of America</c:v>
                </c:pt>
              </c:strCache>
            </c:strRef>
          </c:cat>
          <c:val>
            <c:numRef>
              <c:f>Sheet1!$B$20:$B$27</c:f>
              <c:numCache>
                <c:formatCode>General</c:formatCode>
                <c:ptCount val="7"/>
                <c:pt idx="0">
                  <c:v>60</c:v>
                </c:pt>
                <c:pt idx="1">
                  <c:v>8652</c:v>
                </c:pt>
                <c:pt idx="2">
                  <c:v>40</c:v>
                </c:pt>
                <c:pt idx="3">
                  <c:v>60</c:v>
                </c:pt>
                <c:pt idx="4">
                  <c:v>60</c:v>
                </c:pt>
                <c:pt idx="5">
                  <c:v>80</c:v>
                </c:pt>
                <c:pt idx="6">
                  <c:v>434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82-4EA6-87FC-182EB07022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215241951"/>
        <c:axId val="998636591"/>
      </c:barChart>
      <c:catAx>
        <c:axId val="12152419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8636591"/>
        <c:crosses val="autoZero"/>
        <c:auto val="1"/>
        <c:lblAlgn val="ctr"/>
        <c:lblOffset val="100"/>
        <c:noMultiLvlLbl val="0"/>
      </c:catAx>
      <c:valAx>
        <c:axId val="9986365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2152419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 opened</c:v>
                </c:pt>
              </c:strCache>
            </c:strRef>
          </c:tx>
          <c:spPr>
            <a:ln w="22225" cap="rnd">
              <a:solidFill>
                <a:srgbClr val="FF0000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rgbClr val="FF0000"/>
              </a:solidFill>
              <a:ln w="9525">
                <a:solidFill>
                  <a:srgbClr val="FF0000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Sheet1!$A$2:$A$10</c:f>
              <c:strCache>
                <c:ptCount val="9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1080</c:v>
                </c:pt>
                <c:pt idx="1">
                  <c:v>1098</c:v>
                </c:pt>
                <c:pt idx="2">
                  <c:v>1022</c:v>
                </c:pt>
                <c:pt idx="3">
                  <c:v>1061</c:v>
                </c:pt>
                <c:pt idx="4">
                  <c:v>1051</c:v>
                </c:pt>
                <c:pt idx="5">
                  <c:v>1024</c:v>
                </c:pt>
                <c:pt idx="6">
                  <c:v>1027</c:v>
                </c:pt>
                <c:pt idx="7">
                  <c:v>1086</c:v>
                </c:pt>
                <c:pt idx="8">
                  <c:v>1102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CD-4E3B-AC5C-0EECCB4330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1" i="0" u="none" strike="noStrike" kern="1200" cap="all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 sz="1800" b="1" i="0" u="none" strike="noStrike" cap="all" baseline="0" dirty="0"/>
              <a:t>Restaurant Distribution by Price Range</a:t>
            </a:r>
            <a:endParaRPr lang="en-US" sz="1800" dirty="0"/>
          </a:p>
        </c:rich>
      </c:tx>
      <c:layout>
        <c:manualLayout>
          <c:xMode val="edge"/>
          <c:yMode val="edge"/>
          <c:x val="0.15605643044619422"/>
          <c:y val="3.401360544217687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cap="all" spc="5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7.1605424321959751E-2"/>
          <c:y val="0.13142017962040459"/>
          <c:w val="0.91252155980502436"/>
          <c:h val="0.80282509329190999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</c:v>
                </c:pt>
              </c:strCache>
            </c:strRef>
          </c:tx>
          <c:spPr>
            <a:solidFill>
              <a:srgbClr val="FF000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30D-4D4B-A0BC-9AC230825E3A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30D-4D4B-A0BC-9AC230825E3A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30D-4D4B-A0BC-9AC230825E3A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30D-4D4B-A0BC-9AC230825E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Price 1</c:v>
                </c:pt>
                <c:pt idx="1">
                  <c:v>Price 2</c:v>
                </c:pt>
                <c:pt idx="2">
                  <c:v>Price 3</c:v>
                </c:pt>
                <c:pt idx="3">
                  <c:v>Price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4295</c:v>
                </c:pt>
                <c:pt idx="1">
                  <c:v>2858</c:v>
                </c:pt>
                <c:pt idx="2">
                  <c:v>1111</c:v>
                </c:pt>
                <c:pt idx="3">
                  <c:v>388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E67-40AC-B1B2-143CB7ABFE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55"/>
        <c:overlap val="-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AVG. VOTES / RESTAURANT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Avg. votes / restaurant</c:v>
                </c:pt>
              </c:strCache>
            </c:strRef>
          </c:tx>
          <c:spPr>
            <a:solidFill>
              <a:srgbClr val="FF000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A9B4-43EB-83E4-4934289BC36D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A9B4-43EB-83E4-4934289BC36D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A9B4-43EB-83E4-4934289BC36D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A9B4-43EB-83E4-4934289BC36D}"/>
              </c:ext>
            </c:extLst>
          </c:dPt>
          <c:dPt>
            <c:idx val="4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A9B4-43EB-83E4-4934289BC36D}"/>
              </c:ext>
            </c:extLst>
          </c:dPt>
          <c:dPt>
            <c:idx val="5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A9B4-43EB-83E4-4934289BC36D}"/>
              </c:ext>
            </c:extLst>
          </c:dPt>
          <c:dPt>
            <c:idx val="6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A9B4-43EB-83E4-4934289BC36D}"/>
              </c:ext>
            </c:extLst>
          </c:dPt>
          <c:dPt>
            <c:idx val="7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A9B4-43EB-83E4-4934289BC3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Indonesia</c:v>
                </c:pt>
                <c:pt idx="1">
                  <c:v>Philippines</c:v>
                </c:pt>
                <c:pt idx="2">
                  <c:v>New Zealand</c:v>
                </c:pt>
                <c:pt idx="3">
                  <c:v>Qatar</c:v>
                </c:pt>
                <c:pt idx="4">
                  <c:v>India</c:v>
                </c:pt>
                <c:pt idx="5">
                  <c:v>Australia</c:v>
                </c:pt>
                <c:pt idx="6">
                  <c:v>Canada</c:v>
                </c:pt>
                <c:pt idx="7">
                  <c:v>Singapore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772.1</c:v>
                </c:pt>
                <c:pt idx="1">
                  <c:v>407.4</c:v>
                </c:pt>
                <c:pt idx="2">
                  <c:v>243</c:v>
                </c:pt>
                <c:pt idx="3">
                  <c:v>163.80000000000001</c:v>
                </c:pt>
                <c:pt idx="4">
                  <c:v>137.19999999999999</c:v>
                </c:pt>
                <c:pt idx="5">
                  <c:v>111.4</c:v>
                </c:pt>
                <c:pt idx="6">
                  <c:v>103</c:v>
                </c:pt>
                <c:pt idx="7">
                  <c:v>31.9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3A3-4D1B-95D0-F6F7A4669B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cap="none" spc="2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r>
              <a:rPr lang="en-US" dirty="0"/>
              <a:t>AVERAGE RATING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cap="none" spc="2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rating</c:v>
                </c:pt>
              </c:strCache>
            </c:strRef>
          </c:tx>
          <c:spPr>
            <a:solidFill>
              <a:srgbClr val="FF0000"/>
            </a:solidFill>
            <a:ln>
              <a:solidFill>
                <a:srgbClr val="FF0000"/>
              </a:solidFill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65CB-444D-A460-757ED1C00B6B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65CB-444D-A460-757ED1C00B6B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65CB-444D-A460-757ED1C00B6B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65CB-444D-A460-757ED1C00B6B}"/>
              </c:ext>
            </c:extLst>
          </c:dPt>
          <c:cat>
            <c:strRef>
              <c:f>Sheet1!$A$2:$A$5</c:f>
              <c:strCache>
                <c:ptCount val="4"/>
                <c:pt idx="0">
                  <c:v>Sri Lanka</c:v>
                </c:pt>
                <c:pt idx="1">
                  <c:v>Australia</c:v>
                </c:pt>
                <c:pt idx="2">
                  <c:v>Canada</c:v>
                </c:pt>
                <c:pt idx="3">
                  <c:v>Singapore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3.66</c:v>
                </c:pt>
                <c:pt idx="2">
                  <c:v>3.58</c:v>
                </c:pt>
                <c:pt idx="3">
                  <c:v>3.58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000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1D0-4717-BF1B-0C8FBC06D5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>
            <a:solidFill>
              <a:schemeClr val="tx1">
                <a:lumMod val="15000"/>
                <a:lumOff val="85000"/>
              </a:schemeClr>
            </a:solidFill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[Template (Zomato)11.xlsx]Sheet1!PivotTable6</c:name>
    <c:fmtId val="21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3825284485720837"/>
          <c:y val="0.25787611507053065"/>
          <c:w val="0.84941266082998368"/>
          <c:h val="0.559133975204091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Sheet1!$H$5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0000"/>
            </a:solidFill>
            <a:ln>
              <a:solidFill>
                <a:srgbClr val="FF0000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Sheet1!$G$6:$G$13</c:f>
              <c:strCache>
                <c:ptCount val="7"/>
                <c:pt idx="0">
                  <c:v>Indonesia</c:v>
                </c:pt>
                <c:pt idx="1">
                  <c:v>New Zealand</c:v>
                </c:pt>
                <c:pt idx="2">
                  <c:v>Philippines</c:v>
                </c:pt>
                <c:pt idx="3">
                  <c:v>South Africa</c:v>
                </c:pt>
                <c:pt idx="4">
                  <c:v>Turkey</c:v>
                </c:pt>
                <c:pt idx="5">
                  <c:v>United Arab Emirates</c:v>
                </c:pt>
                <c:pt idx="6">
                  <c:v>United Kingdom</c:v>
                </c:pt>
              </c:strCache>
            </c:strRef>
          </c:cat>
          <c:val>
            <c:numRef>
              <c:f>Sheet1!$H$6:$H$13</c:f>
              <c:numCache>
                <c:formatCode>0.0</c:formatCode>
                <c:ptCount val="7"/>
                <c:pt idx="0">
                  <c:v>4.295238095238096</c:v>
                </c:pt>
                <c:pt idx="1">
                  <c:v>4.2624999999999993</c:v>
                </c:pt>
                <c:pt idx="2">
                  <c:v>4.4681818181818187</c:v>
                </c:pt>
                <c:pt idx="3">
                  <c:v>4.2100000000000009</c:v>
                </c:pt>
                <c:pt idx="4">
                  <c:v>4.3</c:v>
                </c:pt>
                <c:pt idx="5">
                  <c:v>4.2333333333333352</c:v>
                </c:pt>
                <c:pt idx="6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E9-4333-998B-EE82954B0C0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124706223"/>
        <c:axId val="2003568111"/>
      </c:barChart>
      <c:catAx>
        <c:axId val="21247062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003568111"/>
        <c:crosses val="autoZero"/>
        <c:auto val="1"/>
        <c:lblAlgn val="ctr"/>
        <c:lblOffset val="100"/>
        <c:noMultiLvlLbl val="0"/>
      </c:catAx>
      <c:valAx>
        <c:axId val="2003568111"/>
        <c:scaling>
          <c:orientation val="minMax"/>
        </c:scaling>
        <c:delete val="0"/>
        <c:axPos val="l"/>
        <c:numFmt formatCode="0.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1247062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chemeClr val="bg1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20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6">
  <cs:axisTitle>
    <cs:lnRef idx="0"/>
    <cs:fillRef idx="0"/>
    <cs:effectRef idx="0"/>
    <cs:fontRef idx="minor">
      <a:schemeClr val="tx1">
        <a:lumMod val="50000"/>
        <a:lumOff val="50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0.19969</cdr:x>
      <cdr:y>0.01811</cdr:y>
    </cdr:from>
    <cdr:to>
      <cdr:x>0.76087</cdr:x>
      <cdr:y>0.11809</cdr:y>
    </cdr:to>
    <cdr:sp macro="" textlink="">
      <cdr:nvSpPr>
        <cdr:cNvPr id="3" name="Rectangle 2">
          <a:extLst xmlns:a="http://schemas.openxmlformats.org/drawingml/2006/main">
            <a:ext uri="{FF2B5EF4-FFF2-40B4-BE49-F238E27FC236}">
              <a16:creationId xmlns:a16="http://schemas.microsoft.com/office/drawing/2014/main" id="{8CFCE075-2320-1EF9-8059-4C410E054EFE}"/>
            </a:ext>
          </a:extLst>
        </cdr:cNvPr>
        <cdr:cNvSpPr/>
      </cdr:nvSpPr>
      <cdr:spPr>
        <a:xfrm xmlns:a="http://schemas.openxmlformats.org/drawingml/2006/main">
          <a:off x="1254043" y="77884"/>
          <a:ext cx="3524250" cy="430011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>
          <a:solidFill>
            <a:schemeClr val="bg1"/>
          </a:solidFill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t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IN" sz="1600" b="1" dirty="0">
              <a:solidFill>
                <a:schemeClr val="tx1"/>
              </a:solidFill>
              <a:latin typeface="Aptos" panose="020B0004020202020204" pitchFamily="34" charset="0"/>
            </a:rPr>
            <a:t>AVERAGE RATING COUNTRY WISE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6FD45-E0B1-4759-A869-E8851655F95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514AF3-009F-4A2B-9DDE-FE7720865A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603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555480" y="-960120"/>
            <a:ext cx="3154680" cy="3154680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51560" y="5897880"/>
            <a:ext cx="2880360" cy="2880360"/>
          </a:xfrm>
          <a:prstGeom prst="ellipse">
            <a:avLst/>
          </a:prstGeom>
          <a:solidFill>
            <a:srgbClr val="FA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927080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128248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329415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30584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27080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128248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329415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530584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927080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128248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329415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530584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927080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128248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329415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530584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1051560"/>
            <a:ext cx="598914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3600" b="1">
                <a:solidFill>
                  <a:srgbClr val="B4202D"/>
                </a:solidFill>
                <a:latin typeface="Georgia"/>
              </a:defRPr>
            </a:pPr>
            <a:r>
              <a:rPr lang="en-IN" dirty="0"/>
              <a:t>ZOMATO RESTAURANT</a:t>
            </a:r>
          </a:p>
          <a:p>
            <a:pPr>
              <a:spcBef>
                <a:spcPts val="0"/>
              </a:spcBef>
              <a:defRPr sz="3600" b="1">
                <a:solidFill>
                  <a:srgbClr val="232730"/>
                </a:solidFill>
                <a:latin typeface="Georgia"/>
              </a:defRPr>
            </a:pPr>
            <a:r>
              <a:rPr lang="en-IN" dirty="0"/>
              <a:t>EXPANSION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17519"/>
            <a:ext cx="5212080" cy="288037"/>
          </a:xfrm>
          <a:prstGeom prst="rect">
            <a:avLst/>
          </a:prstGeom>
          <a:solidFill>
            <a:srgbClr val="DDA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246120" y="2816352"/>
            <a:ext cx="438912" cy="438912"/>
          </a:xfrm>
          <a:prstGeom prst="ellipse">
            <a:avLst/>
          </a:prstGeom>
          <a:solidFill>
            <a:srgbClr val="FAF8F4"/>
          </a:solidFill>
          <a:ln w="16510">
            <a:solidFill>
              <a:srgbClr val="DDA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00984" y="28575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/>
            </a:pPr>
            <a:r>
              <a:t>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29000"/>
            <a:ext cx="690030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4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7824" y="3675887"/>
            <a:ext cx="438912" cy="43891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" y="3730752"/>
            <a:ext cx="31089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584448"/>
            <a:ext cx="4663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730"/>
                </a:solidFill>
                <a:latin typeface="Aptos"/>
              </a:defRPr>
            </a:pPr>
            <a:r>
              <a:rPr dirty="0"/>
              <a:t>Where should Zomato open its next restaurants?</a:t>
            </a:r>
          </a:p>
          <a:p>
            <a:pPr>
              <a:defRPr sz="1400">
                <a:solidFill>
                  <a:srgbClr val="232730"/>
                </a:solidFill>
                <a:latin typeface="Aptos"/>
              </a:defRPr>
            </a:pPr>
            <a:r>
              <a:rPr dirty="0"/>
              <a:t>A data-backed view on market gaps, quality benchmarks, and cost positioning.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47088" y="4882896"/>
            <a:ext cx="13716" cy="658368"/>
          </a:xfrm>
          <a:prstGeom prst="rect">
            <a:avLst/>
          </a:prstGeom>
          <a:solidFill>
            <a:srgbClr val="DDA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84831" y="4800600"/>
            <a:ext cx="2854756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32730"/>
                </a:solidFill>
                <a:latin typeface="Aptos"/>
              </a:defRPr>
            </a:pPr>
            <a:r>
              <a:rPr lang="en-IN" dirty="0"/>
              <a:t>CHILIKA PRIYADARSINI JENA</a:t>
            </a:r>
          </a:p>
          <a:p>
            <a:pPr>
              <a:defRPr sz="1300">
                <a:solidFill>
                  <a:srgbClr val="232730"/>
                </a:solidFill>
                <a:latin typeface="Aptos"/>
              </a:defRPr>
            </a:pPr>
            <a:r>
              <a:rPr lang="en-IN" dirty="0"/>
              <a:t>01 SEPTEMBER 2026</a:t>
            </a:r>
          </a:p>
        </p:txBody>
      </p:sp>
      <p:sp>
        <p:nvSpPr>
          <p:cNvPr id="32" name="Oval 31"/>
          <p:cNvSpPr/>
          <p:nvPr/>
        </p:nvSpPr>
        <p:spPr>
          <a:xfrm>
            <a:off x="8142732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243316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43900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444484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45068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19288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19872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220456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321040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421624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522208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622792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723376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941564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042148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142732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243316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343900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444484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545068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45652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746236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918704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019288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8119872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220456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21040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421624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522208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622792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723376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7840980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7941564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8042148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8142732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243316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8343900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444484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8545068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8645652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746236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91870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801928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811987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822045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8321040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42162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52220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862279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872337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784098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794156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804214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814273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824331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834390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844448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54506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864565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874623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91870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801928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811987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822045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8321040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2162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852220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862279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872337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794156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04214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814273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824331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343900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844448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854506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864565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74623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801928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811987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822045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832104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842162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852220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862279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72337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804214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814273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8243316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8343900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844448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854506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864565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353044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8453628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8554212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8654796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8755380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8330183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8430768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8531352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631936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8732520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8252460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8353044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8453628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8554212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8654796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8755380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8330183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8430768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8531352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8631936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8732520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8499348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8599932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8700516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8375904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8476488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8577072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8677656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8398764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Oval 153"/>
          <p:cNvSpPr/>
          <p:nvPr/>
        </p:nvSpPr>
        <p:spPr>
          <a:xfrm>
            <a:off x="8499348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8599932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Oval 155"/>
          <p:cNvSpPr/>
          <p:nvPr/>
        </p:nvSpPr>
        <p:spPr>
          <a:xfrm>
            <a:off x="8700516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8375904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/>
          <p:cNvSpPr/>
          <p:nvPr/>
        </p:nvSpPr>
        <p:spPr>
          <a:xfrm>
            <a:off x="8476488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8577072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Oval 159"/>
          <p:cNvSpPr/>
          <p:nvPr/>
        </p:nvSpPr>
        <p:spPr>
          <a:xfrm>
            <a:off x="8677656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Oval 160"/>
          <p:cNvSpPr/>
          <p:nvPr/>
        </p:nvSpPr>
        <p:spPr>
          <a:xfrm>
            <a:off x="8298180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Oval 161"/>
          <p:cNvSpPr/>
          <p:nvPr/>
        </p:nvSpPr>
        <p:spPr>
          <a:xfrm>
            <a:off x="8398764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8499348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8599932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Oval 164"/>
          <p:cNvSpPr/>
          <p:nvPr/>
        </p:nvSpPr>
        <p:spPr>
          <a:xfrm>
            <a:off x="8700516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837590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8476488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Oval 167"/>
          <p:cNvSpPr/>
          <p:nvPr/>
        </p:nvSpPr>
        <p:spPr>
          <a:xfrm>
            <a:off x="8577072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Oval 168"/>
          <p:cNvSpPr/>
          <p:nvPr/>
        </p:nvSpPr>
        <p:spPr>
          <a:xfrm>
            <a:off x="8677656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Oval 169"/>
          <p:cNvSpPr/>
          <p:nvPr/>
        </p:nvSpPr>
        <p:spPr>
          <a:xfrm>
            <a:off x="8298180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8398764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Oval 171"/>
          <p:cNvSpPr/>
          <p:nvPr/>
        </p:nvSpPr>
        <p:spPr>
          <a:xfrm>
            <a:off x="8499348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8599932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Oval 173"/>
          <p:cNvSpPr/>
          <p:nvPr/>
        </p:nvSpPr>
        <p:spPr>
          <a:xfrm>
            <a:off x="8700516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837590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Oval 175"/>
          <p:cNvSpPr/>
          <p:nvPr/>
        </p:nvSpPr>
        <p:spPr>
          <a:xfrm>
            <a:off x="8476488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8577072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Oval 177"/>
          <p:cNvSpPr/>
          <p:nvPr/>
        </p:nvSpPr>
        <p:spPr>
          <a:xfrm>
            <a:off x="8677656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8298180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839876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Oval 180"/>
          <p:cNvSpPr/>
          <p:nvPr/>
        </p:nvSpPr>
        <p:spPr>
          <a:xfrm>
            <a:off x="8499348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Oval 181"/>
          <p:cNvSpPr/>
          <p:nvPr/>
        </p:nvSpPr>
        <p:spPr>
          <a:xfrm>
            <a:off x="8599932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8700516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Oval 183"/>
          <p:cNvSpPr/>
          <p:nvPr/>
        </p:nvSpPr>
        <p:spPr>
          <a:xfrm>
            <a:off x="8375904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Oval 184"/>
          <p:cNvSpPr/>
          <p:nvPr/>
        </p:nvSpPr>
        <p:spPr>
          <a:xfrm>
            <a:off x="8476488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Oval 185"/>
          <p:cNvSpPr/>
          <p:nvPr/>
        </p:nvSpPr>
        <p:spPr>
          <a:xfrm>
            <a:off x="8577072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8677656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Oval 187"/>
          <p:cNvSpPr/>
          <p:nvPr/>
        </p:nvSpPr>
        <p:spPr>
          <a:xfrm>
            <a:off x="8398764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Oval 188"/>
          <p:cNvSpPr/>
          <p:nvPr/>
        </p:nvSpPr>
        <p:spPr>
          <a:xfrm>
            <a:off x="8499348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Oval 189"/>
          <p:cNvSpPr/>
          <p:nvPr/>
        </p:nvSpPr>
        <p:spPr>
          <a:xfrm>
            <a:off x="8599932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8700516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Oval 191"/>
          <p:cNvSpPr/>
          <p:nvPr/>
        </p:nvSpPr>
        <p:spPr>
          <a:xfrm>
            <a:off x="8476488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Oval 192"/>
          <p:cNvSpPr/>
          <p:nvPr/>
        </p:nvSpPr>
        <p:spPr>
          <a:xfrm>
            <a:off x="8577072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Oval 193"/>
          <p:cNvSpPr/>
          <p:nvPr/>
        </p:nvSpPr>
        <p:spPr>
          <a:xfrm>
            <a:off x="8677656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Oval 194"/>
          <p:cNvSpPr/>
          <p:nvPr/>
        </p:nvSpPr>
        <p:spPr>
          <a:xfrm>
            <a:off x="9496044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Oval 195"/>
          <p:cNvSpPr/>
          <p:nvPr/>
        </p:nvSpPr>
        <p:spPr>
          <a:xfrm>
            <a:off x="9596628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Oval 196"/>
          <p:cNvSpPr/>
          <p:nvPr/>
        </p:nvSpPr>
        <p:spPr>
          <a:xfrm>
            <a:off x="9697212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Oval 197"/>
          <p:cNvSpPr/>
          <p:nvPr/>
        </p:nvSpPr>
        <p:spPr>
          <a:xfrm>
            <a:off x="9797796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Oval 198"/>
          <p:cNvSpPr/>
          <p:nvPr/>
        </p:nvSpPr>
        <p:spPr>
          <a:xfrm>
            <a:off x="9898380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Oval 199"/>
          <p:cNvSpPr/>
          <p:nvPr/>
        </p:nvSpPr>
        <p:spPr>
          <a:xfrm>
            <a:off x="9998964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Oval 200"/>
          <p:cNvSpPr/>
          <p:nvPr/>
        </p:nvSpPr>
        <p:spPr>
          <a:xfrm>
            <a:off x="9473184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201"/>
          <p:cNvSpPr/>
          <p:nvPr/>
        </p:nvSpPr>
        <p:spPr>
          <a:xfrm>
            <a:off x="9573768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9674352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Oval 203"/>
          <p:cNvSpPr/>
          <p:nvPr/>
        </p:nvSpPr>
        <p:spPr>
          <a:xfrm>
            <a:off x="9774936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Oval 204"/>
          <p:cNvSpPr/>
          <p:nvPr/>
        </p:nvSpPr>
        <p:spPr>
          <a:xfrm>
            <a:off x="9875520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Oval 205"/>
          <p:cNvSpPr/>
          <p:nvPr/>
        </p:nvSpPr>
        <p:spPr>
          <a:xfrm>
            <a:off x="9976104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9395460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Oval 207"/>
          <p:cNvSpPr/>
          <p:nvPr/>
        </p:nvSpPr>
        <p:spPr>
          <a:xfrm>
            <a:off x="9496044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Oval 208"/>
          <p:cNvSpPr/>
          <p:nvPr/>
        </p:nvSpPr>
        <p:spPr>
          <a:xfrm>
            <a:off x="9596628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Oval 209"/>
          <p:cNvSpPr/>
          <p:nvPr/>
        </p:nvSpPr>
        <p:spPr>
          <a:xfrm>
            <a:off x="9697212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9797796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Oval 211"/>
          <p:cNvSpPr/>
          <p:nvPr/>
        </p:nvSpPr>
        <p:spPr>
          <a:xfrm>
            <a:off x="9898380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Oval 212"/>
          <p:cNvSpPr/>
          <p:nvPr/>
        </p:nvSpPr>
        <p:spPr>
          <a:xfrm>
            <a:off x="9998964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Oval 213"/>
          <p:cNvSpPr/>
          <p:nvPr/>
        </p:nvSpPr>
        <p:spPr>
          <a:xfrm>
            <a:off x="9473184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Oval 214"/>
          <p:cNvSpPr/>
          <p:nvPr/>
        </p:nvSpPr>
        <p:spPr>
          <a:xfrm>
            <a:off x="9573768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Oval 215"/>
          <p:cNvSpPr/>
          <p:nvPr/>
        </p:nvSpPr>
        <p:spPr>
          <a:xfrm>
            <a:off x="9674352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Oval 216"/>
          <p:cNvSpPr/>
          <p:nvPr/>
        </p:nvSpPr>
        <p:spPr>
          <a:xfrm>
            <a:off x="9774936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Oval 217"/>
          <p:cNvSpPr/>
          <p:nvPr/>
        </p:nvSpPr>
        <p:spPr>
          <a:xfrm>
            <a:off x="9875520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Oval 218"/>
          <p:cNvSpPr/>
          <p:nvPr/>
        </p:nvSpPr>
        <p:spPr>
          <a:xfrm>
            <a:off x="9976104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Oval 219"/>
          <p:cNvSpPr/>
          <p:nvPr/>
        </p:nvSpPr>
        <p:spPr>
          <a:xfrm>
            <a:off x="964234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Oval 220"/>
          <p:cNvSpPr/>
          <p:nvPr/>
        </p:nvSpPr>
        <p:spPr>
          <a:xfrm>
            <a:off x="974293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Oval 221"/>
          <p:cNvSpPr/>
          <p:nvPr/>
        </p:nvSpPr>
        <p:spPr>
          <a:xfrm>
            <a:off x="984351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Oval 222"/>
          <p:cNvSpPr/>
          <p:nvPr/>
        </p:nvSpPr>
        <p:spPr>
          <a:xfrm>
            <a:off x="9944100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Oval 223"/>
          <p:cNvSpPr/>
          <p:nvPr/>
        </p:nvSpPr>
        <p:spPr>
          <a:xfrm>
            <a:off x="1004468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961948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972007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982065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992124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1002182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1012240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954176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964234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974293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984351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9944100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1004468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1014526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951890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961948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972007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982065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9921240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1002182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1012240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944118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954176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964234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974293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984351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994410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1004468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1014526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951890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961948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972007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9820656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9921240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1002182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1012240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9441180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9541764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9642348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9742932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9843516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9944100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10044684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10145268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9518904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9619488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Oval 269"/>
          <p:cNvSpPr/>
          <p:nvPr/>
        </p:nvSpPr>
        <p:spPr>
          <a:xfrm>
            <a:off x="9720072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Oval 270"/>
          <p:cNvSpPr/>
          <p:nvPr/>
        </p:nvSpPr>
        <p:spPr>
          <a:xfrm>
            <a:off x="9820656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Oval 271"/>
          <p:cNvSpPr/>
          <p:nvPr/>
        </p:nvSpPr>
        <p:spPr>
          <a:xfrm>
            <a:off x="9921240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Oval 272"/>
          <p:cNvSpPr/>
          <p:nvPr/>
        </p:nvSpPr>
        <p:spPr>
          <a:xfrm>
            <a:off x="10021824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Oval 273"/>
          <p:cNvSpPr/>
          <p:nvPr/>
        </p:nvSpPr>
        <p:spPr>
          <a:xfrm>
            <a:off x="10122408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Oval 274"/>
          <p:cNvSpPr/>
          <p:nvPr/>
        </p:nvSpPr>
        <p:spPr>
          <a:xfrm>
            <a:off x="9441180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Oval 275"/>
          <p:cNvSpPr/>
          <p:nvPr/>
        </p:nvSpPr>
        <p:spPr>
          <a:xfrm>
            <a:off x="9541764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Oval 276"/>
          <p:cNvSpPr/>
          <p:nvPr/>
        </p:nvSpPr>
        <p:spPr>
          <a:xfrm>
            <a:off x="9642348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Oval 277"/>
          <p:cNvSpPr/>
          <p:nvPr/>
        </p:nvSpPr>
        <p:spPr>
          <a:xfrm>
            <a:off x="9742932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Oval 278"/>
          <p:cNvSpPr/>
          <p:nvPr/>
        </p:nvSpPr>
        <p:spPr>
          <a:xfrm>
            <a:off x="9843516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Oval 279"/>
          <p:cNvSpPr/>
          <p:nvPr/>
        </p:nvSpPr>
        <p:spPr>
          <a:xfrm>
            <a:off x="9944100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Oval 280"/>
          <p:cNvSpPr/>
          <p:nvPr/>
        </p:nvSpPr>
        <p:spPr>
          <a:xfrm>
            <a:off x="10044684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Oval 281"/>
          <p:cNvSpPr/>
          <p:nvPr/>
        </p:nvSpPr>
        <p:spPr>
          <a:xfrm>
            <a:off x="10145268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9518904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619488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9720072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9820656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9921240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0021824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10122408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9541764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9642348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742932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9843516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9944100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0044684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0145268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9619488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9720072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9820656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21240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0021824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0122408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9642348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9742932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9843516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44100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0044684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0575036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0675620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0776204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10876788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10977372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11077956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11178540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1279124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0451592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0552176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0652760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10753344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10853928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10954512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11055096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1155680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1256263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1356848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037386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1047445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Oval 327"/>
          <p:cNvSpPr/>
          <p:nvPr/>
        </p:nvSpPr>
        <p:spPr>
          <a:xfrm>
            <a:off x="10575036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Oval 328"/>
          <p:cNvSpPr/>
          <p:nvPr/>
        </p:nvSpPr>
        <p:spPr>
          <a:xfrm>
            <a:off x="10675620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Oval 329"/>
          <p:cNvSpPr/>
          <p:nvPr/>
        </p:nvSpPr>
        <p:spPr>
          <a:xfrm>
            <a:off x="10776204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Oval 330"/>
          <p:cNvSpPr/>
          <p:nvPr/>
        </p:nvSpPr>
        <p:spPr>
          <a:xfrm>
            <a:off x="1087678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Oval 331"/>
          <p:cNvSpPr/>
          <p:nvPr/>
        </p:nvSpPr>
        <p:spPr>
          <a:xfrm>
            <a:off x="1097737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Oval 332"/>
          <p:cNvSpPr/>
          <p:nvPr/>
        </p:nvSpPr>
        <p:spPr>
          <a:xfrm>
            <a:off x="11077956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Oval 333"/>
          <p:cNvSpPr/>
          <p:nvPr/>
        </p:nvSpPr>
        <p:spPr>
          <a:xfrm>
            <a:off x="11178540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Oval 334"/>
          <p:cNvSpPr/>
          <p:nvPr/>
        </p:nvSpPr>
        <p:spPr>
          <a:xfrm>
            <a:off x="11279124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Oval 335"/>
          <p:cNvSpPr/>
          <p:nvPr/>
        </p:nvSpPr>
        <p:spPr>
          <a:xfrm>
            <a:off x="1137970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Oval 336"/>
          <p:cNvSpPr/>
          <p:nvPr/>
        </p:nvSpPr>
        <p:spPr>
          <a:xfrm>
            <a:off x="1148029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Oval 337"/>
          <p:cNvSpPr/>
          <p:nvPr/>
        </p:nvSpPr>
        <p:spPr>
          <a:xfrm>
            <a:off x="10250424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Oval 338"/>
          <p:cNvSpPr/>
          <p:nvPr/>
        </p:nvSpPr>
        <p:spPr>
          <a:xfrm>
            <a:off x="1035100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Oval 339"/>
          <p:cNvSpPr/>
          <p:nvPr/>
        </p:nvSpPr>
        <p:spPr>
          <a:xfrm>
            <a:off x="1045159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Oval 340"/>
          <p:cNvSpPr/>
          <p:nvPr/>
        </p:nvSpPr>
        <p:spPr>
          <a:xfrm>
            <a:off x="1055217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Oval 341"/>
          <p:cNvSpPr/>
          <p:nvPr/>
        </p:nvSpPr>
        <p:spPr>
          <a:xfrm>
            <a:off x="10652760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Oval 342"/>
          <p:cNvSpPr/>
          <p:nvPr/>
        </p:nvSpPr>
        <p:spPr>
          <a:xfrm>
            <a:off x="10753344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Oval 343"/>
          <p:cNvSpPr/>
          <p:nvPr/>
        </p:nvSpPr>
        <p:spPr>
          <a:xfrm>
            <a:off x="1085392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Oval 344"/>
          <p:cNvSpPr/>
          <p:nvPr/>
        </p:nvSpPr>
        <p:spPr>
          <a:xfrm>
            <a:off x="1095451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345"/>
          <p:cNvSpPr/>
          <p:nvPr/>
        </p:nvSpPr>
        <p:spPr>
          <a:xfrm>
            <a:off x="1105509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Oval 346"/>
          <p:cNvSpPr/>
          <p:nvPr/>
        </p:nvSpPr>
        <p:spPr>
          <a:xfrm>
            <a:off x="11155680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Oval 347"/>
          <p:cNvSpPr/>
          <p:nvPr/>
        </p:nvSpPr>
        <p:spPr>
          <a:xfrm>
            <a:off x="11256263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Oval 348"/>
          <p:cNvSpPr/>
          <p:nvPr/>
        </p:nvSpPr>
        <p:spPr>
          <a:xfrm>
            <a:off x="1135684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Oval 349"/>
          <p:cNvSpPr/>
          <p:nvPr/>
        </p:nvSpPr>
        <p:spPr>
          <a:xfrm>
            <a:off x="1145743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Oval 350"/>
          <p:cNvSpPr/>
          <p:nvPr/>
        </p:nvSpPr>
        <p:spPr>
          <a:xfrm>
            <a:off x="1155801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Oval 351"/>
          <p:cNvSpPr/>
          <p:nvPr/>
        </p:nvSpPr>
        <p:spPr>
          <a:xfrm>
            <a:off x="1027328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Oval 352"/>
          <p:cNvSpPr/>
          <p:nvPr/>
        </p:nvSpPr>
        <p:spPr>
          <a:xfrm>
            <a:off x="1037386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Oval 353"/>
          <p:cNvSpPr/>
          <p:nvPr/>
        </p:nvSpPr>
        <p:spPr>
          <a:xfrm>
            <a:off x="1047445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Oval 354"/>
          <p:cNvSpPr/>
          <p:nvPr/>
        </p:nvSpPr>
        <p:spPr>
          <a:xfrm>
            <a:off x="1057503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10675620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1077620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1087678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1097737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1107795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11178540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1127912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1137970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1148029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1158087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10250424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1035100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1045159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1055217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10652760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10753344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1085392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1095451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1105509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11155680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11256263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1135684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1145743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1155801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1017270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1027328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1037386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1047445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1057503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1067562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1077620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1087678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1097737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1107795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1117854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1127912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1137970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1148029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1158087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10250424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1035100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1045159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1055217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10652760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10753344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1" name="Oval 400"/>
          <p:cNvSpPr/>
          <p:nvPr/>
        </p:nvSpPr>
        <p:spPr>
          <a:xfrm>
            <a:off x="1085392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Oval 401"/>
          <p:cNvSpPr/>
          <p:nvPr/>
        </p:nvSpPr>
        <p:spPr>
          <a:xfrm>
            <a:off x="1095451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3" name="Oval 402"/>
          <p:cNvSpPr/>
          <p:nvPr/>
        </p:nvSpPr>
        <p:spPr>
          <a:xfrm>
            <a:off x="1105509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4" name="Oval 403"/>
          <p:cNvSpPr/>
          <p:nvPr/>
        </p:nvSpPr>
        <p:spPr>
          <a:xfrm>
            <a:off x="11155680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5" name="Oval 404"/>
          <p:cNvSpPr/>
          <p:nvPr/>
        </p:nvSpPr>
        <p:spPr>
          <a:xfrm>
            <a:off x="11256263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Oval 405"/>
          <p:cNvSpPr/>
          <p:nvPr/>
        </p:nvSpPr>
        <p:spPr>
          <a:xfrm>
            <a:off x="1135684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7" name="Oval 406"/>
          <p:cNvSpPr/>
          <p:nvPr/>
        </p:nvSpPr>
        <p:spPr>
          <a:xfrm>
            <a:off x="1145743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Oval 407"/>
          <p:cNvSpPr/>
          <p:nvPr/>
        </p:nvSpPr>
        <p:spPr>
          <a:xfrm>
            <a:off x="1155801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1027328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1037386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1047445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1057503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10675620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1077620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1087678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1097737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1107795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11178540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1127912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1137970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1148029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1158087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10250424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1035100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1045159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1055217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10652760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10753344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1085392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1095451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1105509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11155680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11256263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1135684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1145743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1155801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1037386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1047445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10575036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10675620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10776204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1087678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1097737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11077956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11178540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11279124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1137970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1148029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10451592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10552176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10652760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10753344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10853928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4" name="Oval 453"/>
          <p:cNvSpPr/>
          <p:nvPr/>
        </p:nvSpPr>
        <p:spPr>
          <a:xfrm>
            <a:off x="10954512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Oval 454"/>
          <p:cNvSpPr/>
          <p:nvPr/>
        </p:nvSpPr>
        <p:spPr>
          <a:xfrm>
            <a:off x="11055096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6" name="Oval 455"/>
          <p:cNvSpPr/>
          <p:nvPr/>
        </p:nvSpPr>
        <p:spPr>
          <a:xfrm>
            <a:off x="11155680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7" name="Oval 456"/>
          <p:cNvSpPr/>
          <p:nvPr/>
        </p:nvSpPr>
        <p:spPr>
          <a:xfrm>
            <a:off x="11256263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8" name="Oval 457"/>
          <p:cNvSpPr/>
          <p:nvPr/>
        </p:nvSpPr>
        <p:spPr>
          <a:xfrm>
            <a:off x="11356848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Oval 458"/>
          <p:cNvSpPr/>
          <p:nvPr/>
        </p:nvSpPr>
        <p:spPr>
          <a:xfrm>
            <a:off x="10575036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Oval 459"/>
          <p:cNvSpPr/>
          <p:nvPr/>
        </p:nvSpPr>
        <p:spPr>
          <a:xfrm>
            <a:off x="10675620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1" name="Oval 460"/>
          <p:cNvSpPr/>
          <p:nvPr/>
        </p:nvSpPr>
        <p:spPr>
          <a:xfrm>
            <a:off x="10776204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2" name="Oval 461"/>
          <p:cNvSpPr/>
          <p:nvPr/>
        </p:nvSpPr>
        <p:spPr>
          <a:xfrm>
            <a:off x="10876788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Oval 462"/>
          <p:cNvSpPr/>
          <p:nvPr/>
        </p:nvSpPr>
        <p:spPr>
          <a:xfrm>
            <a:off x="10977372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4" name="Oval 463"/>
          <p:cNvSpPr/>
          <p:nvPr/>
        </p:nvSpPr>
        <p:spPr>
          <a:xfrm>
            <a:off x="11077956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5" name="Oval 464"/>
          <p:cNvSpPr/>
          <p:nvPr/>
        </p:nvSpPr>
        <p:spPr>
          <a:xfrm>
            <a:off x="11178540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6" name="Oval 465"/>
          <p:cNvSpPr/>
          <p:nvPr/>
        </p:nvSpPr>
        <p:spPr>
          <a:xfrm>
            <a:off x="11279124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7" name="Oval 466"/>
          <p:cNvSpPr/>
          <p:nvPr/>
        </p:nvSpPr>
        <p:spPr>
          <a:xfrm>
            <a:off x="1123340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8" name="Oval 467"/>
          <p:cNvSpPr/>
          <p:nvPr/>
        </p:nvSpPr>
        <p:spPr>
          <a:xfrm>
            <a:off x="11333988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9" name="Oval 468"/>
          <p:cNvSpPr/>
          <p:nvPr/>
        </p:nvSpPr>
        <p:spPr>
          <a:xfrm>
            <a:off x="11434572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0" name="Oval 469"/>
          <p:cNvSpPr/>
          <p:nvPr/>
        </p:nvSpPr>
        <p:spPr>
          <a:xfrm>
            <a:off x="11535156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470"/>
          <p:cNvSpPr/>
          <p:nvPr/>
        </p:nvSpPr>
        <p:spPr>
          <a:xfrm>
            <a:off x="11635740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471"/>
          <p:cNvSpPr/>
          <p:nvPr/>
        </p:nvSpPr>
        <p:spPr>
          <a:xfrm>
            <a:off x="1173632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472"/>
          <p:cNvSpPr/>
          <p:nvPr/>
        </p:nvSpPr>
        <p:spPr>
          <a:xfrm>
            <a:off x="11210544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473"/>
          <p:cNvSpPr/>
          <p:nvPr/>
        </p:nvSpPr>
        <p:spPr>
          <a:xfrm>
            <a:off x="11311128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474"/>
          <p:cNvSpPr/>
          <p:nvPr/>
        </p:nvSpPr>
        <p:spPr>
          <a:xfrm>
            <a:off x="11411712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475"/>
          <p:cNvSpPr/>
          <p:nvPr/>
        </p:nvSpPr>
        <p:spPr>
          <a:xfrm>
            <a:off x="11512296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476"/>
          <p:cNvSpPr/>
          <p:nvPr/>
        </p:nvSpPr>
        <p:spPr>
          <a:xfrm>
            <a:off x="11612880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477"/>
          <p:cNvSpPr/>
          <p:nvPr/>
        </p:nvSpPr>
        <p:spPr>
          <a:xfrm>
            <a:off x="11713464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478"/>
          <p:cNvSpPr/>
          <p:nvPr/>
        </p:nvSpPr>
        <p:spPr>
          <a:xfrm>
            <a:off x="11132820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479"/>
          <p:cNvSpPr/>
          <p:nvPr/>
        </p:nvSpPr>
        <p:spPr>
          <a:xfrm>
            <a:off x="1123340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480"/>
          <p:cNvSpPr/>
          <p:nvPr/>
        </p:nvSpPr>
        <p:spPr>
          <a:xfrm>
            <a:off x="11333988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481"/>
          <p:cNvSpPr/>
          <p:nvPr/>
        </p:nvSpPr>
        <p:spPr>
          <a:xfrm>
            <a:off x="11434572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482"/>
          <p:cNvSpPr/>
          <p:nvPr/>
        </p:nvSpPr>
        <p:spPr>
          <a:xfrm>
            <a:off x="11535156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Oval 483"/>
          <p:cNvSpPr/>
          <p:nvPr/>
        </p:nvSpPr>
        <p:spPr>
          <a:xfrm>
            <a:off x="11635740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484"/>
          <p:cNvSpPr/>
          <p:nvPr/>
        </p:nvSpPr>
        <p:spPr>
          <a:xfrm>
            <a:off x="1173632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485"/>
          <p:cNvSpPr/>
          <p:nvPr/>
        </p:nvSpPr>
        <p:spPr>
          <a:xfrm>
            <a:off x="1121054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486"/>
          <p:cNvSpPr/>
          <p:nvPr/>
        </p:nvSpPr>
        <p:spPr>
          <a:xfrm>
            <a:off x="11311128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11411712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11512296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1612880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171346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7973568" y="224028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8060436" y="232714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Isosceles Triangle 493"/>
          <p:cNvSpPr/>
          <p:nvPr/>
        </p:nvSpPr>
        <p:spPr>
          <a:xfrm rot="10800000">
            <a:off x="8028432" y="242316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966960" y="214884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10053828" y="223570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Isosceles Triangle 496"/>
          <p:cNvSpPr/>
          <p:nvPr/>
        </p:nvSpPr>
        <p:spPr>
          <a:xfrm rot="10800000">
            <a:off x="10021824" y="233172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835640" y="274320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922508" y="283006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Isosceles Triangle 499"/>
          <p:cNvSpPr/>
          <p:nvPr/>
        </p:nvSpPr>
        <p:spPr>
          <a:xfrm rot="10800000">
            <a:off x="10890504" y="292608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475720" y="379476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62588" y="388162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Isosceles Triangle 502"/>
          <p:cNvSpPr/>
          <p:nvPr/>
        </p:nvSpPr>
        <p:spPr>
          <a:xfrm rot="10800000">
            <a:off x="11530584" y="397764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TextBox 505"/>
          <p:cNvSpPr txBox="1"/>
          <p:nvPr/>
        </p:nvSpPr>
        <p:spPr>
          <a:xfrm>
            <a:off x="9761220" y="5084064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202D"/>
                </a:solidFill>
                <a:latin typeface="Arial"/>
              </a:defRPr>
            </a:pPr>
            <a:r>
              <a:rPr dirty="0" err="1"/>
              <a:t>zomato</a:t>
            </a:r>
            <a:endParaRPr dirty="0"/>
          </a:p>
        </p:txBody>
      </p:sp>
      <p:sp>
        <p:nvSpPr>
          <p:cNvPr id="507" name="TextBox 506"/>
          <p:cNvSpPr txBox="1"/>
          <p:nvPr/>
        </p:nvSpPr>
        <p:spPr>
          <a:xfrm>
            <a:off x="9630011" y="550926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232730"/>
                </a:solidFill>
                <a:latin typeface="Aptos"/>
              </a:defRPr>
            </a:pPr>
            <a:r>
              <a:rPr dirty="0"/>
              <a:t>better food for more people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15496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776" y="1060704"/>
            <a:ext cx="5577840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 started with one simple question: What does the current restaurant landscape tell us?</a:t>
            </a:r>
            <a:endParaRPr lang="en-IN" dirty="0"/>
          </a:p>
          <a:p>
            <a:r>
              <a:rPr lang="en-IN" dirty="0"/>
              <a:t>I explored </a:t>
            </a:r>
            <a:r>
              <a:rPr lang="en-IN" b="1" dirty="0"/>
              <a:t>where restaurants are concentrated, how the industry has evolved, and where customer response is strongest.</a:t>
            </a:r>
            <a:endParaRPr lang="en-IN" dirty="0"/>
          </a:p>
          <a:p>
            <a:r>
              <a:rPr lang="en-IN" dirty="0"/>
              <a:t>From there, I identified </a:t>
            </a:r>
            <a:r>
              <a:rPr lang="en-IN" b="1" dirty="0"/>
              <a:t>less-saturated markets with growth potential</a:t>
            </a:r>
            <a:r>
              <a:rPr lang="en-IN" dirty="0"/>
              <a:t>, while </a:t>
            </a:r>
            <a:r>
              <a:rPr lang="en-IN" dirty="0" err="1"/>
              <a:t>analyzing</a:t>
            </a:r>
            <a:r>
              <a:rPr lang="en-IN" dirty="0"/>
              <a:t> </a:t>
            </a:r>
            <a:r>
              <a:rPr lang="en-IN" b="1" dirty="0"/>
              <a:t>pricing, cuisine trends, and customer preferences.</a:t>
            </a:r>
            <a:endParaRPr lang="en-IN" dirty="0"/>
          </a:p>
          <a:p>
            <a:r>
              <a:rPr lang="en-IN" dirty="0"/>
              <a:t>I also examined </a:t>
            </a:r>
            <a:r>
              <a:rPr lang="en-IN" b="1" dirty="0"/>
              <a:t>how online delivery and table booking influence restaurant performance.</a:t>
            </a:r>
            <a:endParaRPr lang="en-IN" dirty="0"/>
          </a:p>
          <a:p>
            <a:r>
              <a:rPr lang="en-IN" b="1" dirty="0"/>
              <a:t>Finally, I brought these insights together to develop practical recommendations for expansion, pricing, cuisine selection, and service strategy.</a:t>
            </a:r>
            <a:endParaRPr lang="en-IN" dirty="0"/>
          </a:p>
          <a:p>
            <a:pPr>
              <a:spcAft>
                <a:spcPts val="900"/>
              </a:spcAft>
              <a:defRPr sz="17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720840" y="123444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20840" y="1234440"/>
            <a:ext cx="54864" cy="141732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22007" y="13716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RESTAURANTS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1673352"/>
            <a:ext cx="1783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9,551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216712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Dataset records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23444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98280" y="1234440"/>
            <a:ext cx="54864" cy="141732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99448" y="13716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1673352"/>
            <a:ext cx="53091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81E2D"/>
                </a:solidFill>
                <a:latin typeface="Aptos Display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9448" y="216712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Markets represented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92608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20840" y="2926080"/>
            <a:ext cx="54864" cy="141732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7" y="306324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OVERALL RATING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3364992"/>
            <a:ext cx="1783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2.89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7" y="385876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Average across dataset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292608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98280" y="2926080"/>
            <a:ext cx="54864" cy="141732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306324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VOTES / RESTAURANT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3364992"/>
            <a:ext cx="70403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81E2D"/>
                </a:solidFill>
                <a:latin typeface="Aptos Display"/>
              </a:rPr>
              <a:t>15</a:t>
            </a:r>
            <a:r>
              <a:rPr lang="en-US" sz="2500" b="1" dirty="0">
                <a:solidFill>
                  <a:srgbClr val="181E2D"/>
                </a:solidFill>
                <a:latin typeface="Aptos Display"/>
              </a:rPr>
              <a:t>7</a:t>
            </a:r>
            <a:endParaRPr sz="25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299448" y="385876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Average votes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9536" y="4822460"/>
            <a:ext cx="3311101" cy="7315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9796" y="4815316"/>
            <a:ext cx="309976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Core decision lens: growth potential + customer response + cost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4139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DATA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54864" cy="128016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9,551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Restaurant-level observations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91840" y="1143000"/>
            <a:ext cx="54864" cy="128016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KEY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17+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Country, city, cuisine, price, rating, votes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0" y="1143000"/>
            <a:ext cx="54864" cy="128016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TIME SPAN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2010–2018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Opening-year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595360" y="1143000"/>
            <a:ext cx="54864" cy="128016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9652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Table booking + online delivery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2880360"/>
            <a:ext cx="1950720" cy="393192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6123" y="2916936"/>
            <a:ext cx="179863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E62D50"/>
                </a:solidFill>
                <a:latin typeface="Aptos"/>
              </a:rPr>
              <a:t>DATA 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37560"/>
            <a:ext cx="101498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Before looking for insights, I first made sure the data was ready to tell the right story.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standardized country, city, and categorical fields</a:t>
            </a:r>
            <a:r>
              <a:rPr lang="en-IN" dirty="0"/>
              <a:t> for consistent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extracted the opening year</a:t>
            </a:r>
            <a:r>
              <a:rPr lang="en-IN" dirty="0"/>
              <a:t> to understand how the restaurant landscape evolved.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normalized cost and currency fields</a:t>
            </a:r>
            <a:r>
              <a:rPr lang="en-IN" dirty="0"/>
              <a:t> and reviewed missing or zero values.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created rating quality bands</a:t>
            </a:r>
            <a:r>
              <a:rPr lang="en-IN" dirty="0"/>
              <a:t> to make customer feedback easier to interpret. </a:t>
            </a:r>
          </a:p>
          <a:p>
            <a:pPr lvl="0"/>
            <a:r>
              <a:rPr lang="en-IN" dirty="0"/>
              <a:t>Finally, I </a:t>
            </a:r>
            <a:r>
              <a:rPr lang="en-IN" b="1" dirty="0"/>
              <a:t>built pivot-style summaries</a:t>
            </a:r>
            <a:r>
              <a:rPr lang="en-IN" dirty="0"/>
              <a:t> across country, year, price range, cuisine, and service adoption to uncover key patterns.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407720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ANALYTICAL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01168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258567"/>
            <a:ext cx="125273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Standardize text, dates, categories and numeric fields.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39" y="2441448"/>
            <a:ext cx="246889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360" y="1325880"/>
            <a:ext cx="54864" cy="201168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8152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2258567"/>
            <a:ext cx="151790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Measure restaurant counts, ratings, votes and costs.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4632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2064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20640" y="1325880"/>
            <a:ext cx="54864" cy="201168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2180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COMPARE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2258567"/>
            <a:ext cx="151790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Benchmark countries, price bands, cuisines and services</a:t>
            </a:r>
            <a:r>
              <a:rPr sz="900" dirty="0">
                <a:solidFill>
                  <a:srgbClr val="707684"/>
                </a:solidFill>
                <a:latin typeface="Aptos"/>
              </a:rPr>
              <a:t>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8660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6092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60920" y="1325880"/>
            <a:ext cx="54864" cy="201168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6208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PRIORITIZE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2088" y="2258567"/>
            <a:ext cx="150876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Screen lower-competition markets using scale + rating signals.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2688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60120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601200" y="1325880"/>
            <a:ext cx="54864" cy="2011680"/>
          </a:xfrm>
          <a:prstGeom prst="rect">
            <a:avLst/>
          </a:prstGeom>
          <a:solidFill>
            <a:srgbClr val="FF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0236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RECOMMEND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258567"/>
            <a:ext cx="14081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Convert patterns into expansion and operating actions.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79" y="3771899"/>
            <a:ext cx="2011513" cy="434341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4526" y="3803898"/>
            <a:ext cx="20115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ANALYTICAL TOOLS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123" y="4320878"/>
            <a:ext cx="1024128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Once the data was ready, I focused on turning it into meaningful insights.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used </a:t>
            </a:r>
            <a:r>
              <a:rPr lang="en-IN" b="1" dirty="0"/>
              <a:t>pivot tables and conditional aggregation</a:t>
            </a:r>
            <a:r>
              <a:rPr lang="en-IN" dirty="0"/>
              <a:t> to compare markets and uncover key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applied </a:t>
            </a:r>
            <a:r>
              <a:rPr lang="en-IN" b="1" dirty="0"/>
              <a:t>AVERAGE and SUMPRODUCT-based calculations</a:t>
            </a:r>
            <a:r>
              <a:rPr lang="en-IN" dirty="0"/>
              <a:t> to derive targeted measures.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used </a:t>
            </a:r>
            <a:r>
              <a:rPr lang="en-IN" b="1" dirty="0"/>
              <a:t>charts to bring concentration, trends, and rating differences into focus.</a:t>
            </a:r>
            <a:endParaRPr lang="en-IN" dirty="0"/>
          </a:p>
          <a:p>
            <a:r>
              <a:rPr lang="en-IN" dirty="0"/>
              <a:t>Finally, I used </a:t>
            </a:r>
            <a:r>
              <a:rPr lang="en-IN" b="1" dirty="0"/>
              <a:t>conditional formatting to highlight restaurants in promising markets.</a:t>
            </a:r>
            <a:endParaRPr lang="en-IN" dirty="0"/>
          </a:p>
          <a:p>
            <a:pPr>
              <a:spcAft>
                <a:spcPts val="900"/>
              </a:spcAft>
              <a:defRPr sz="16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17252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6944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Aptos Display" panose="020B0004020202020204" pitchFamily="34" charset="0"/>
              </a:rPr>
              <a:t>UNDERSTANDING THE RESTAURANT LANDSCAPE</a:t>
            </a:r>
            <a:endParaRPr lang="en-IN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88887" y="832930"/>
            <a:ext cx="3639312" cy="713232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30619" y="903064"/>
            <a:ext cx="33558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India accounts for 8,652 restaurants—far ahead of every other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804" y="1841496"/>
            <a:ext cx="4327873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The First Insight…</a:t>
            </a:r>
          </a:p>
          <a:p>
            <a:r>
              <a:rPr lang="en-IN" b="1" dirty="0"/>
              <a:t>As I explored the data, one important pattern quickly stood out: India dominates the dataset.</a:t>
            </a:r>
            <a:endParaRPr lang="en-IN" dirty="0"/>
          </a:p>
          <a:p>
            <a:r>
              <a:rPr lang="en-IN" dirty="0"/>
              <a:t>This means </a:t>
            </a:r>
            <a:r>
              <a:rPr lang="en-IN" b="1" dirty="0"/>
              <a:t>restaurant counts alone cannot tell us which markets are truly attractive.</a:t>
            </a:r>
            <a:endParaRPr lang="en-IN" dirty="0"/>
          </a:p>
          <a:p>
            <a:r>
              <a:rPr lang="en-IN" dirty="0"/>
              <a:t>So, I looked beyond market size and considered </a:t>
            </a:r>
            <a:r>
              <a:rPr lang="en-IN" b="1" dirty="0"/>
              <a:t>both competition and customer response</a:t>
            </a:r>
            <a:r>
              <a:rPr lang="en-IN" dirty="0"/>
              <a:t>, especially in smaller markets.</a:t>
            </a:r>
          </a:p>
          <a:p>
            <a:r>
              <a:rPr lang="en-IN" b="1" dirty="0"/>
              <a:t>This highlighted an opportunity to screen international markets for more sustainable expansion.</a:t>
            </a:r>
            <a:endParaRPr lang="en-IN" dirty="0"/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9ED2206-86B6-4AAD-A719-68EE94E8D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8738544"/>
              </p:ext>
            </p:extLst>
          </p:nvPr>
        </p:nvGraphicFramePr>
        <p:xfrm>
          <a:off x="422694" y="1319842"/>
          <a:ext cx="6202393" cy="42593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ECA30B2-166C-7693-65FA-6032A1F63292}"/>
              </a:ext>
            </a:extLst>
          </p:cNvPr>
          <p:cNvSpPr/>
          <p:nvPr/>
        </p:nvSpPr>
        <p:spPr>
          <a:xfrm>
            <a:off x="2398144" y="1433826"/>
            <a:ext cx="2846718" cy="4076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i="0" dirty="0">
                <a:solidFill>
                  <a:schemeClr val="tx1"/>
                </a:solidFill>
                <a:latin typeface="Aptos" panose="020B0004020202020204" pitchFamily="34" charset="0"/>
              </a:rPr>
              <a:t>RESTAURANTS BY COUNTRY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42466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RESTAURANT OPENINGS REMAINED BROADLY STABLE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306119"/>
              </p:ext>
            </p:extLst>
          </p:nvPr>
        </p:nvGraphicFramePr>
        <p:xfrm>
          <a:off x="685800" y="1143000"/>
          <a:ext cx="65836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393936" y="625933"/>
            <a:ext cx="2112264" cy="68580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39655" y="718293"/>
            <a:ext cx="20208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Peak: 1,102 openings in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9655" y="1441915"/>
            <a:ext cx="2112264" cy="68580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60224" y="1484617"/>
            <a:ext cx="17373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Low: 1,022 openings in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9070" y="2208228"/>
            <a:ext cx="4221481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A Steady Market…</a:t>
            </a:r>
          </a:p>
          <a:p>
            <a:r>
              <a:rPr lang="en-IN" b="1" dirty="0"/>
              <a:t>Looking at restaurant openings over time, I found that the market remained relatively stable.</a:t>
            </a:r>
            <a:endParaRPr lang="en-IN" dirty="0"/>
          </a:p>
          <a:p>
            <a:pPr lvl="0"/>
            <a:r>
              <a:rPr lang="en-IN" dirty="0"/>
              <a:t>Openings </a:t>
            </a:r>
            <a:r>
              <a:rPr lang="en-IN" b="1" dirty="0"/>
              <a:t>fluctuated within a relatively narrow range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There was </a:t>
            </a:r>
            <a:r>
              <a:rPr lang="en-IN" b="1" dirty="0"/>
              <a:t>no sustained collapse in restaurant openings</a:t>
            </a:r>
            <a:r>
              <a:rPr lang="en-IN" dirty="0"/>
              <a:t>, indicating continued market activity.</a:t>
            </a:r>
          </a:p>
          <a:p>
            <a:pPr lvl="0"/>
            <a:r>
              <a:rPr lang="en-IN" b="1" dirty="0"/>
              <a:t>2018 recorded the highest annual count</a:t>
            </a:r>
            <a:r>
              <a:rPr lang="en-IN" dirty="0"/>
              <a:t>, suggesting that market activity remained strong toward the end of the period.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15779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INDIA SHOWS A LARGE AFFORDABLE-MARKET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329347"/>
              </p:ext>
            </p:extLst>
          </p:nvPr>
        </p:nvGraphicFramePr>
        <p:xfrm>
          <a:off x="617220" y="1188720"/>
          <a:ext cx="64008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7981" y="738164"/>
            <a:ext cx="3703320" cy="502920"/>
          </a:xfrm>
          <a:prstGeom prst="roundRect">
            <a:avLst/>
          </a:prstGeom>
          <a:solidFill>
            <a:srgbClr val="FBF2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7981" y="844480"/>
            <a:ext cx="37103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388 restaurants in India are in Price Range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1291" y="1436554"/>
            <a:ext cx="4243766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When I looked at the price segments, one clear pattern stood out: most restaurants operate in the lower-to-mid price ranges.</a:t>
            </a:r>
            <a:endParaRPr lang="en-IN" dirty="0"/>
          </a:p>
          <a:p>
            <a:pPr lvl="0"/>
            <a:r>
              <a:rPr lang="en-IN" b="1" dirty="0"/>
              <a:t>Price Range 1 dominates</a:t>
            </a:r>
            <a:r>
              <a:rPr lang="en-IN" dirty="0"/>
              <a:t> with 4,295 restaurants.</a:t>
            </a:r>
          </a:p>
          <a:p>
            <a:pPr lvl="0"/>
            <a:r>
              <a:rPr lang="en-IN" b="1" dirty="0"/>
              <a:t>Price Range 2 adds another 2,858 restaurants</a:t>
            </a:r>
            <a:r>
              <a:rPr lang="en-IN" dirty="0"/>
              <a:t>, making these the core market segments.</a:t>
            </a:r>
          </a:p>
          <a:p>
            <a:pPr lvl="0"/>
            <a:r>
              <a:rPr lang="en-IN" b="1" dirty="0"/>
              <a:t>Premium Range 4 is much smaller</a:t>
            </a:r>
            <a:r>
              <a:rPr lang="en-IN" dirty="0"/>
              <a:t>, indicating a more selective premium segment.</a:t>
            </a:r>
          </a:p>
          <a:p>
            <a:pPr lvl="0"/>
            <a:r>
              <a:rPr lang="en-IN" dirty="0"/>
              <a:t>Interestingly, </a:t>
            </a:r>
            <a:r>
              <a:rPr lang="en-IN" b="1" dirty="0"/>
              <a:t>average ratings rise with price range</a:t>
            </a:r>
            <a:r>
              <a:rPr lang="en-IN" dirty="0"/>
              <a:t>, suggesting a potential </a:t>
            </a:r>
            <a:r>
              <a:rPr lang="en-IN" b="1" dirty="0"/>
              <a:t>premium-quality opportunity</a:t>
            </a:r>
            <a:r>
              <a:rPr lang="en-IN" dirty="0"/>
              <a:t>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6562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CUSTOMER ENGAGEMENT VARIES SHARPLY BY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060771"/>
              </p:ext>
            </p:extLst>
          </p:nvPr>
        </p:nvGraphicFramePr>
        <p:xfrm>
          <a:off x="640080" y="1143000"/>
          <a:ext cx="6400800" cy="4709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325880"/>
            <a:ext cx="3329796" cy="667512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79" y="1417320"/>
            <a:ext cx="30449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Indonesia leads this comparison at ~772 average votes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1"/>
            <a:ext cx="43434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Next, I looked at votes as an indicator of customer engagement across markets.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Votes provide a useful proxy for engagement</a:t>
            </a:r>
            <a:r>
              <a:rPr lang="en-IN" dirty="0"/>
              <a:t>, but I considered them alongside overall market size.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Singapore recorded the lowest average votes</a:t>
            </a:r>
            <a:r>
              <a:rPr lang="en-IN" dirty="0"/>
              <a:t> among the markets compared.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Higher engagement can help validate demand</a:t>
            </a:r>
            <a:r>
              <a:rPr lang="en-IN" dirty="0"/>
              <a:t>, while </a:t>
            </a:r>
            <a:r>
              <a:rPr lang="en-IN" b="1" dirty="0"/>
              <a:t>lower competition can create better entry economics</a:t>
            </a:r>
            <a:r>
              <a:rPr lang="en-IN" dirty="0"/>
              <a:t>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99613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 Display" panose="020B0004020202020204" pitchFamily="34" charset="0"/>
              </a:rPr>
              <a:t>LOOKING BEYOND SCALE: SMALLER MARKETS WITH STRONGER RATINGS</a:t>
            </a:r>
            <a:endParaRPr lang="en-US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4864" cy="160020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PHILIPPINES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22 restaurants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1234440"/>
            <a:ext cx="54864" cy="160020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028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INDONESIA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21 restaurants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2440" y="1234440"/>
            <a:ext cx="54864" cy="160020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9360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TURKEY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34 restaurants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3200400"/>
            <a:ext cx="54864" cy="160020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NEW ZEALAND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40 restaurants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389120" y="3200400"/>
            <a:ext cx="54864" cy="1600200"/>
          </a:xfrm>
          <a:prstGeom prst="rect">
            <a:avLst/>
          </a:prstGeom>
          <a:solidFill>
            <a:srgbClr val="FF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9028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UAE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60 restaurants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92440" y="3200400"/>
            <a:ext cx="54864" cy="160020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9360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SOUTH AFRICA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60 restaurants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59708" y="5326380"/>
            <a:ext cx="7089067" cy="59436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191110" y="5438894"/>
            <a:ext cx="68822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1600" b="1" dirty="0">
                <a:latin typeface="Aptos" panose="020B0004020202020204" pitchFamily="34" charset="0"/>
              </a:rPr>
              <a:t>Recommended core markets: Canada • Singapore • Sri Lanka • Australia</a:t>
            </a:r>
            <a:endParaRPr sz="1600" b="1" dirty="0">
              <a:solidFill>
                <a:srgbClr val="181E2D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160573"/>
            <a:ext cx="10098405" cy="461665"/>
          </a:xfrm>
          <a:prstGeom prst="rect">
            <a:avLst/>
          </a:prstGeom>
          <a:solidFill>
            <a:srgbClr val="FCF6F5"/>
          </a:solidFill>
        </p:spPr>
        <p:txBody>
          <a:bodyPr wrap="square">
            <a:spAutoFit/>
          </a:bodyPr>
          <a:lstStyle/>
          <a:p>
            <a:r>
              <a:rPr lang="en-US" sz="2400" b="1" dirty="0">
                <a:latin typeface="Aptos Display" panose="020B0004020202020204" pitchFamily="34" charset="0"/>
              </a:rPr>
              <a:t>TARGET CITIES REVEAL SPECIFIC LOW-COMPETITION OPPORTUNITIES</a:t>
            </a:r>
            <a:endParaRPr lang="en-US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1417320" cy="35684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5477" y="1152144"/>
            <a:ext cx="99796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CANADA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068957"/>
            <a:ext cx="543854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Chatham-Kent • Consort • Vineland Station • Yorkton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2331720"/>
            <a:ext cx="1417320" cy="2743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0554" y="2331720"/>
            <a:ext cx="1311706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SINGAPORE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313432"/>
            <a:ext cx="399141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Bukit Timah • Singapore River • Tanglin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081527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417320" cy="41348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5712" y="3540511"/>
            <a:ext cx="118045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SRI LANKA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557016"/>
            <a:ext cx="455470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Colombo • Colombo 01 • Colombo 02 • Fort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270248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85800" y="4690646"/>
            <a:ext cx="1417320" cy="35706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2497" y="4718304"/>
            <a:ext cx="12239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AUSTRALIA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690872"/>
            <a:ext cx="74132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Armidale • Balingup • Beechworth • Palm Cove • Tanunda • Victor Harbor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58968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331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RECOMMENDED MARKETS ALREADY SHOW GOOD RESTAURANT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99378"/>
              </p:ext>
            </p:extLst>
          </p:nvPr>
        </p:nvGraphicFramePr>
        <p:xfrm>
          <a:off x="640080" y="1188720"/>
          <a:ext cx="59436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95159" y="1325880"/>
            <a:ext cx="4427183" cy="5029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1417320"/>
            <a:ext cx="42443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Overall average across the four core markets: 3.69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2423160"/>
            <a:ext cx="4331323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Quality is validated across all four markets, with room for selective growth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Sri Lanka</a:t>
            </a:r>
            <a:r>
              <a:rPr lang="en-IN" dirty="0"/>
              <a:t> records the highest average rating at </a:t>
            </a:r>
            <a:r>
              <a:rPr lang="en-IN" b="1" dirty="0"/>
              <a:t>3.87</a:t>
            </a:r>
            <a:r>
              <a:rPr lang="en-IN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Australia</a:t>
            </a:r>
            <a:r>
              <a:rPr lang="en-IN" dirty="0"/>
              <a:t> follows at </a:t>
            </a:r>
            <a:r>
              <a:rPr lang="en-IN" b="1" dirty="0"/>
              <a:t>3.66</a:t>
            </a:r>
            <a:r>
              <a:rPr lang="en-IN" dirty="0"/>
              <a:t>, while </a:t>
            </a:r>
            <a:r>
              <a:rPr lang="en-IN" b="1" dirty="0"/>
              <a:t>Canada and Singapore</a:t>
            </a:r>
            <a:r>
              <a:rPr lang="en-IN" dirty="0"/>
              <a:t> stand at </a:t>
            </a:r>
            <a:r>
              <a:rPr lang="en-IN" b="1" dirty="0"/>
              <a:t>3.58</a:t>
            </a:r>
            <a:r>
              <a:rPr lang="en-IN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All four markets are classified as </a:t>
            </a:r>
            <a:r>
              <a:rPr lang="en-IN" b="1" dirty="0"/>
              <a:t>Good</a:t>
            </a:r>
            <a:r>
              <a:rPr lang="en-IN" dirty="0"/>
              <a:t> under the project’s Quality framework.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Market entry should be focused on areas where quality is established and saturation remains manageable.</a:t>
            </a:r>
            <a:endParaRPr lang="en-IN" dirty="0"/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8680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STRONG RESTAURANT QUALITY EXTENDS BEYOND THE LARGEST MARKETS</a:t>
            </a:r>
            <a:endParaRPr lang="en-US" sz="2400" b="1" dirty="0">
              <a:solidFill>
                <a:srgbClr val="181E2D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545E9574-DE64-439B-85A2-6A70023F3A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0511794"/>
              </p:ext>
            </p:extLst>
          </p:nvPr>
        </p:nvGraphicFramePr>
        <p:xfrm>
          <a:off x="282336" y="1147745"/>
          <a:ext cx="6423264" cy="43009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7FBA483-41F6-EABF-C9DB-089AF00CAC37}"/>
              </a:ext>
            </a:extLst>
          </p:cNvPr>
          <p:cNvSpPr txBox="1"/>
          <p:nvPr/>
        </p:nvSpPr>
        <p:spPr>
          <a:xfrm>
            <a:off x="7083142" y="1313064"/>
            <a:ext cx="438136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Quality is not limited to the biggest markets</a:t>
            </a:r>
            <a:r>
              <a:rPr lang="en-IN" dirty="0"/>
              <a:t>—several smaller markets show strong restaurant ratings.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The Philippines leads</a:t>
            </a:r>
            <a:r>
              <a:rPr lang="en-IN" dirty="0"/>
              <a:t> with an impressive </a:t>
            </a:r>
            <a:r>
              <a:rPr lang="en-IN" b="1" dirty="0"/>
              <a:t>4.5 average rating</a:t>
            </a:r>
            <a:r>
              <a:rPr lang="en-IN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Indonesia, New Zealand and Turkey</a:t>
            </a:r>
            <a:r>
              <a:rPr lang="en-IN" dirty="0"/>
              <a:t> follow closely at </a:t>
            </a:r>
            <a:r>
              <a:rPr lang="en-IN" b="1" dirty="0"/>
              <a:t>4.3</a:t>
            </a:r>
            <a:r>
              <a:rPr lang="en-IN" dirty="0"/>
              <a:t>, showing consistently strong customer satisfaction.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South Africa, UAE and the UK</a:t>
            </a:r>
            <a:r>
              <a:rPr lang="en-IN" dirty="0"/>
              <a:t> also maintain solid ratings of </a:t>
            </a:r>
            <a:r>
              <a:rPr lang="en-IN" b="1" dirty="0"/>
              <a:t>4.1–4.2</a:t>
            </a:r>
            <a:r>
              <a:rPr lang="en-IN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Takeaway:</a:t>
            </a:r>
            <a:r>
              <a:rPr lang="en-IN" dirty="0"/>
              <a:t> Strong ratings across diverse markets suggest that </a:t>
            </a:r>
            <a:r>
              <a:rPr lang="en-IN" b="1" dirty="0"/>
              <a:t>quality-led markets can be attractive expansion opportunities</a:t>
            </a:r>
            <a:r>
              <a:rPr lang="en-IN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6341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/>
              <a:t>WIN CUSTOMERS THROUGH THE RIGHT CUISINE AND DIGITAL EXPERIENCE</a:t>
            </a:r>
            <a:endParaRPr lang="en-US" sz="24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23956" y="1047513"/>
            <a:ext cx="1375698" cy="355808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1315" y="1051770"/>
            <a:ext cx="10425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CUISINE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5" y="1546946"/>
            <a:ext cx="5166360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Focus on high-potential cuisines:</a:t>
            </a:r>
            <a:r>
              <a:rPr lang="en-IN" dirty="0"/>
              <a:t> Modern Indian, European, Rajasthani, Seafood, Indian and Mediterranean.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Modern Indian stands out</a:t>
            </a:r>
            <a:r>
              <a:rPr lang="en-IN" dirty="0"/>
              <a:t>, combining a strong </a:t>
            </a:r>
            <a:r>
              <a:rPr lang="en-IN" b="1" dirty="0"/>
              <a:t>~4.37 average rating</a:t>
            </a:r>
            <a:r>
              <a:rPr lang="en-IN" dirty="0"/>
              <a:t> with high customer engagement.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Less crowded cuisines tend to perform better</a:t>
            </a:r>
            <a:r>
              <a:rPr lang="en-IN" dirty="0"/>
              <a:t>, creating an opportunity to differentiate.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7910227" y="1064511"/>
            <a:ext cx="2010149" cy="430426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10301" y="1108507"/>
            <a:ext cx="191007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DIGITAL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3666" y="1641455"/>
            <a:ext cx="50749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Online delivery lifts ratings:</a:t>
            </a:r>
            <a:r>
              <a:rPr lang="en-IN" dirty="0"/>
              <a:t> </a:t>
            </a:r>
            <a:r>
              <a:rPr lang="en-IN" b="1" dirty="0"/>
              <a:t>3.29 vs 2.75</a:t>
            </a:r>
            <a:r>
              <a:rPr lang="en-IN" dirty="0"/>
              <a:t> without delivery.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Table booking performs even better:</a:t>
            </a:r>
            <a:r>
              <a:rPr lang="en-IN" dirty="0"/>
              <a:t> </a:t>
            </a:r>
            <a:r>
              <a:rPr lang="en-IN" b="1" dirty="0"/>
              <a:t>3.48 vs 2.81</a:t>
            </a:r>
            <a:r>
              <a:rPr lang="en-IN" dirty="0"/>
              <a:t> without the service.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Both services are </a:t>
            </a:r>
            <a:r>
              <a:rPr lang="en-IN" b="1" dirty="0"/>
              <a:t>strongly associated with higher customer ratings</a:t>
            </a:r>
            <a:r>
              <a:rPr lang="en-IN" dirty="0"/>
              <a:t> in the dataset.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31519" y="4343400"/>
            <a:ext cx="9994595" cy="5029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425696"/>
            <a:ext cx="999459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Recommendation: launch new restaurants with an intentional cuisine proposition plus online delivery and table booking.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19" y="5257800"/>
            <a:ext cx="10224027" cy="548640"/>
          </a:xfrm>
          <a:prstGeom prst="roundRect">
            <a:avLst/>
          </a:prstGeom>
          <a:solidFill>
            <a:srgbClr val="FBF2F5"/>
          </a:solidFill>
          <a:ln>
            <a:solidFill>
              <a:srgbClr val="E6A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7970" y="5349240"/>
            <a:ext cx="103988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Premium positioning is also supported by the data: average rating increases from ~2.4 in Price Range 1 to ~3.8 in Price Range 4</a:t>
            </a:r>
            <a:r>
              <a:rPr sz="1200" b="1" dirty="0">
                <a:solidFill>
                  <a:srgbClr val="181E2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8445" y="52631"/>
            <a:ext cx="82495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/>
              <a:t>MANAGEMENT DASHBOARD: TURNING INSIGHTS INTO ACTION</a:t>
            </a:r>
            <a:endParaRPr lang="en-US" sz="24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0C1345-BAAF-B618-0845-760F412FB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4296"/>
            <a:ext cx="12192000" cy="63963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984" y="174159"/>
            <a:ext cx="869385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/>
              <a:t>FROM INSIGHT TO ACTION: WHERE SHOULD ZOMATO FOCUS NEXT</a:t>
            </a:r>
            <a:endParaRPr lang="en-US" sz="2400" b="1" dirty="0"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D2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4358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7802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1246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4690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15000"/>
            <a:ext cx="10652760" cy="59436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975183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latin typeface="Aptos"/>
              </a:rPr>
              <a:t>Bottom line: move from “where are there restaurants?” to “where can we win with a differentiated, high-quality offer?”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6E05DC-8FF4-BEA1-89A6-F43390662456}"/>
              </a:ext>
            </a:extLst>
          </p:cNvPr>
          <p:cNvSpPr txBox="1"/>
          <p:nvPr/>
        </p:nvSpPr>
        <p:spPr>
          <a:xfrm>
            <a:off x="288984" y="809983"/>
            <a:ext cx="1115567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From market opportunity to successful expansion</a:t>
            </a:r>
          </a:p>
          <a:p>
            <a:r>
              <a:rPr lang="en-IN" b="1" dirty="0"/>
              <a:t>1. Start with the strongest markets</a:t>
            </a:r>
            <a:br>
              <a:rPr lang="en-IN" dirty="0"/>
            </a:br>
            <a:r>
              <a:rPr lang="en-IN" dirty="0"/>
              <a:t>→ Begin where the analysis already shows promise: </a:t>
            </a:r>
            <a:r>
              <a:rPr lang="en-IN" b="1" dirty="0"/>
              <a:t>Canada, Singapore, Sri Lanka and Australia</a:t>
            </a:r>
            <a:r>
              <a:rPr lang="en-IN" dirty="0"/>
              <a:t>. These markets combine good restaurant quality with attractive expansion potential.</a:t>
            </a:r>
          </a:p>
          <a:p>
            <a:r>
              <a:rPr lang="en-IN" b="1" dirty="0"/>
              <a:t>2. Then find the right cities</a:t>
            </a:r>
            <a:br>
              <a:rPr lang="en-IN" dirty="0"/>
            </a:br>
            <a:r>
              <a:rPr lang="en-IN" dirty="0"/>
              <a:t>→ A country alone is not enough. Identify cities where </a:t>
            </a:r>
            <a:r>
              <a:rPr lang="en-IN" b="1" dirty="0"/>
              <a:t>customer demand is strong, ratings are healthy and competition is still manageable</a:t>
            </a:r>
            <a:r>
              <a:rPr lang="en-IN" dirty="0"/>
              <a:t>.</a:t>
            </a:r>
          </a:p>
          <a:p>
            <a:r>
              <a:rPr lang="en-IN" b="1" dirty="0"/>
              <a:t>3. Validate before committing capital</a:t>
            </a:r>
            <a:br>
              <a:rPr lang="en-IN" dirty="0"/>
            </a:br>
            <a:r>
              <a:rPr lang="en-IN" dirty="0"/>
              <a:t>→ Before investing heavily, assess the local landscape: </a:t>
            </a:r>
            <a:r>
              <a:rPr lang="en-IN" b="1" dirty="0"/>
              <a:t>how many restaurants exist, which cuisines fit local demand, pricing levels and the strength of competitors</a:t>
            </a:r>
            <a:r>
              <a:rPr lang="en-IN" dirty="0"/>
              <a:t>.</a:t>
            </a:r>
          </a:p>
          <a:p>
            <a:r>
              <a:rPr lang="en-IN" b="1" dirty="0"/>
              <a:t>4. Start small, then scale</a:t>
            </a:r>
            <a:br>
              <a:rPr lang="en-IN" dirty="0"/>
            </a:br>
            <a:r>
              <a:rPr lang="en-IN" dirty="0"/>
              <a:t>→ Enter through a </a:t>
            </a:r>
            <a:r>
              <a:rPr lang="en-IN" b="1" dirty="0"/>
              <a:t>focused pilot</a:t>
            </a:r>
            <a:r>
              <a:rPr lang="en-IN" dirty="0"/>
              <a:t>, measure customer response and business performance, and use those results to decide where to expand further.</a:t>
            </a:r>
          </a:p>
          <a:p>
            <a:endParaRPr lang="en-IN" b="1" dirty="0"/>
          </a:p>
          <a:p>
            <a:r>
              <a:rPr lang="en-IN" b="1" dirty="0"/>
              <a:t>The strategy is simple: choose the right market, pinpoint the right city, validate the opportunity, and scale only where the numbers prove it.</a:t>
            </a:r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20716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57745" y="1061989"/>
            <a:ext cx="1835701" cy="326613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2818" y="1076377"/>
            <a:ext cx="142474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E62D50"/>
                </a:solidFill>
                <a:latin typeface="Aptos"/>
              </a:rPr>
              <a:t>KEY 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82809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Aptos Display" panose="020B0004020202020204" pitchFamily="34" charset="0"/>
              </a:rPr>
              <a:t>The analysis points to a selective expansion strategy—prioritizing markets with strong restaurant quality, manageable competition, and clear opportunities to differentiate.</a:t>
            </a:r>
            <a:endParaRPr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3296672"/>
            <a:ext cx="100584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Zomato restaurant dataset and project workbook supplied for the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Spreadsheet Project Guidelines / PPT Sample Approach supplied with the project.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Analysis based on cleaned project data and the stated pivot-table summaries.</a:t>
            </a:r>
          </a:p>
          <a:p>
            <a:pPr>
              <a:spcAft>
                <a:spcPts val="900"/>
              </a:spcAft>
              <a:defRPr sz="1400">
                <a:solidFill>
                  <a:srgbClr val="232732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13" name="Rounded Rectangle 12"/>
          <p:cNvSpPr/>
          <p:nvPr/>
        </p:nvSpPr>
        <p:spPr>
          <a:xfrm>
            <a:off x="4265676" y="5539032"/>
            <a:ext cx="3335274" cy="861768"/>
          </a:xfrm>
          <a:prstGeom prst="roundRect">
            <a:avLst/>
          </a:prstGeom>
          <a:solidFill>
            <a:srgbClr val="FBF2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501" y="5716403"/>
            <a:ext cx="30876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1" dirty="0"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THANK YOU  —  QUESTIONS WELCOME</a:t>
            </a:r>
            <a:endParaRPr lang="en-US" b="1" dirty="0">
              <a:latin typeface="Aptos" panose="020B0004020202020204" pitchFamily="34" charset="0"/>
            </a:endParaRPr>
          </a:p>
        </p:txBody>
      </p:sp>
      <p:sp>
        <p:nvSpPr>
          <p:cNvPr id="16" name="Rounded Rectangle 6">
            <a:extLst>
              <a:ext uri="{FF2B5EF4-FFF2-40B4-BE49-F238E27FC236}">
                <a16:creationId xmlns:a16="http://schemas.microsoft.com/office/drawing/2014/main" id="{4621EBA5-96DC-30D8-D38D-619614C704D8}"/>
              </a:ext>
            </a:extLst>
          </p:cNvPr>
          <p:cNvSpPr/>
          <p:nvPr/>
        </p:nvSpPr>
        <p:spPr>
          <a:xfrm>
            <a:off x="862818" y="2770819"/>
            <a:ext cx="2814969" cy="448944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604067-E160-6080-1052-61257E8E913A}"/>
              </a:ext>
            </a:extLst>
          </p:cNvPr>
          <p:cNvSpPr txBox="1"/>
          <p:nvPr/>
        </p:nvSpPr>
        <p:spPr>
          <a:xfrm>
            <a:off x="862818" y="2854992"/>
            <a:ext cx="3344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E62D50"/>
                </a:solidFill>
                <a:latin typeface="Aptos"/>
              </a:rPr>
              <a:t>SOURCE / ACKNOWLEDGEMENT</a:t>
            </a:r>
          </a:p>
          <a:p>
            <a:endParaRPr lang="en-IN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1481</Words>
  <Application>Microsoft Office PowerPoint</Application>
  <PresentationFormat>Widescreen</PresentationFormat>
  <Paragraphs>186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Zomato Restaurant Analytics</dc:title>
  <dc:subject>Management presentation based on Zomato restaurant dataset</dc:subject>
  <dc:creator>Chilika Jena</dc:creator>
  <cp:keywords>Zomato, restaurant analytics, Excel, dashboard, market expansion</cp:keywords>
  <dc:description>generated using python-pptx</dc:description>
  <cp:lastModifiedBy>Chilika  Jena</cp:lastModifiedBy>
  <cp:revision>7</cp:revision>
  <dcterms:created xsi:type="dcterms:W3CDTF">2013-01-27T09:14:16Z</dcterms:created>
  <dcterms:modified xsi:type="dcterms:W3CDTF">2026-09-12T16:48:06Z</dcterms:modified>
  <cp:category/>
</cp:coreProperties>
</file>