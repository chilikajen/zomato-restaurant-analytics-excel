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drawings/drawing1.xml" ContentType="application/vnd.openxmlformats-officedocument.drawingml.chartshap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6F5"/>
    <a:srgbClr val="990011"/>
    <a:srgbClr val="6B00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456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hili\OneDrive\Desktop\Template%20(Zomato)11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hili\OneDrive\Desktop\Template%20(Zomato)11.xlsx" TargetMode="Externa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chartUserShapes" Target="../drawings/drawing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[Template (Zomato)11.xlsx]Sheet1!PivotTable4</c:name>
    <c:fmtId val="20"/>
  </c:pivotSource>
  <c:chart>
    <c:autoTitleDeleted val="1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E23744"/>
          </a:solidFill>
          <a:ln w="12700" cap="flat" cmpd="sng" algn="ctr">
            <a:solidFill>
              <a:srgbClr val="E23744"/>
            </a:solidFill>
            <a:prstDash val="solid"/>
            <a:miter lim="800000"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E23744"/>
          </a:solidFill>
          <a:ln w="12700" cap="flat" cmpd="sng" algn="ctr">
            <a:solidFill>
              <a:srgbClr val="E23744"/>
            </a:solidFill>
            <a:prstDash val="solid"/>
            <a:miter lim="800000"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E23744"/>
          </a:solidFill>
          <a:ln w="12700" cap="flat" cmpd="sng" algn="ctr">
            <a:solidFill>
              <a:srgbClr val="E23744"/>
            </a:solidFill>
            <a:prstDash val="solid"/>
            <a:miter lim="800000"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8704807966860535"/>
          <c:y val="0.15183323144018687"/>
          <c:w val="0.65658432156749824"/>
          <c:h val="0.7226139865012710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Sheet1!$B$19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E23744"/>
            </a:solidFill>
            <a:ln w="12700" cap="flat" cmpd="sng" algn="ctr">
              <a:solidFill>
                <a:srgbClr val="E23744"/>
              </a:solidFill>
              <a:prstDash val="solid"/>
              <a:miter lim="800000"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Sheet1!$A$20:$A$27</c:f>
              <c:strCache>
                <c:ptCount val="7"/>
                <c:pt idx="0">
                  <c:v>Brazil</c:v>
                </c:pt>
                <c:pt idx="1">
                  <c:v>India</c:v>
                </c:pt>
                <c:pt idx="2">
                  <c:v>New Zealand</c:v>
                </c:pt>
                <c:pt idx="3">
                  <c:v>South Africa</c:v>
                </c:pt>
                <c:pt idx="4">
                  <c:v>United Arab Emirates</c:v>
                </c:pt>
                <c:pt idx="5">
                  <c:v>United Kingdom</c:v>
                </c:pt>
                <c:pt idx="6">
                  <c:v>United States of America</c:v>
                </c:pt>
              </c:strCache>
            </c:strRef>
          </c:cat>
          <c:val>
            <c:numRef>
              <c:f>Sheet1!$B$20:$B$27</c:f>
              <c:numCache>
                <c:formatCode>General</c:formatCode>
                <c:ptCount val="7"/>
                <c:pt idx="0">
                  <c:v>60</c:v>
                </c:pt>
                <c:pt idx="1">
                  <c:v>8652</c:v>
                </c:pt>
                <c:pt idx="2">
                  <c:v>40</c:v>
                </c:pt>
                <c:pt idx="3">
                  <c:v>60</c:v>
                </c:pt>
                <c:pt idx="4">
                  <c:v>60</c:v>
                </c:pt>
                <c:pt idx="5">
                  <c:v>80</c:v>
                </c:pt>
                <c:pt idx="6">
                  <c:v>434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82-4EA6-87FC-182EB07022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215241951"/>
        <c:axId val="998636591"/>
      </c:barChart>
      <c:catAx>
        <c:axId val="12152419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ysClr val="windowText" lastClr="000000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998636591"/>
        <c:crosses val="autoZero"/>
        <c:auto val="1"/>
        <c:lblAlgn val="ctr"/>
        <c:lblOffset val="100"/>
        <c:noMultiLvlLbl val="0"/>
      </c:catAx>
      <c:valAx>
        <c:axId val="99863659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12152419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cap="all" spc="120" normalizeH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Restaurants opened</c:v>
                </c:pt>
              </c:strCache>
            </c:strRef>
          </c:tx>
          <c:spPr>
            <a:ln w="22225" cap="rnd">
              <a:solidFill>
                <a:srgbClr val="FF0000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rgbClr val="FF0000"/>
              </a:solidFill>
              <a:ln w="9525">
                <a:solidFill>
                  <a:srgbClr val="FF0000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Sheet1!$A$2:$A$10</c:f>
              <c:strCache>
                <c:ptCount val="9"/>
                <c:pt idx="0">
                  <c:v>2010</c:v>
                </c:pt>
                <c:pt idx="1">
                  <c:v>2011</c:v>
                </c:pt>
                <c:pt idx="2">
                  <c:v>2012</c:v>
                </c:pt>
                <c:pt idx="3">
                  <c:v>2013</c:v>
                </c:pt>
                <c:pt idx="4">
                  <c:v>2014</c:v>
                </c:pt>
                <c:pt idx="5">
                  <c:v>2015</c:v>
                </c:pt>
                <c:pt idx="6">
                  <c:v>2016</c:v>
                </c:pt>
                <c:pt idx="7">
                  <c:v>2017</c:v>
                </c:pt>
                <c:pt idx="8">
                  <c:v>2018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1080</c:v>
                </c:pt>
                <c:pt idx="1">
                  <c:v>1098</c:v>
                </c:pt>
                <c:pt idx="2">
                  <c:v>1022</c:v>
                </c:pt>
                <c:pt idx="3">
                  <c:v>1061</c:v>
                </c:pt>
                <c:pt idx="4">
                  <c:v>1051</c:v>
                </c:pt>
                <c:pt idx="5">
                  <c:v>1024</c:v>
                </c:pt>
                <c:pt idx="6">
                  <c:v>1027</c:v>
                </c:pt>
                <c:pt idx="7">
                  <c:v>1086</c:v>
                </c:pt>
                <c:pt idx="8">
                  <c:v>1102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0CD-4E3B-AC5C-0EECCB4330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64" b="0" i="0" u="none" strike="noStrike" kern="1200" cap="all" spc="12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879178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200" b="1" i="0" u="none" strike="noStrike" kern="1200" cap="all" spc="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IN" sz="1800" b="1" i="0" u="none" strike="noStrike" cap="all" baseline="0" dirty="0"/>
              <a:t>Restaurant Distribution by Price Range</a:t>
            </a:r>
            <a:endParaRPr lang="en-US" sz="1800" dirty="0"/>
          </a:p>
        </c:rich>
      </c:tx>
      <c:layout>
        <c:manualLayout>
          <c:xMode val="edge"/>
          <c:yMode val="edge"/>
          <c:x val="0.15605643044619422"/>
          <c:y val="3.401360544217687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cap="all" spc="5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7.1605424321959751E-2"/>
          <c:y val="0.13142017962040459"/>
          <c:w val="0.91252155980502436"/>
          <c:h val="0.80282509329190999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Restaurants</c:v>
                </c:pt>
              </c:strCache>
            </c:strRef>
          </c:tx>
          <c:spPr>
            <a:solidFill>
              <a:srgbClr val="FF0000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30D-4D4B-A0BC-9AC230825E3A}"/>
              </c:ext>
            </c:extLst>
          </c:dPt>
          <c:dPt>
            <c:idx val="1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30D-4D4B-A0BC-9AC230825E3A}"/>
              </c:ext>
            </c:extLst>
          </c:dPt>
          <c:dPt>
            <c:idx val="2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30D-4D4B-A0BC-9AC230825E3A}"/>
              </c:ext>
            </c:extLst>
          </c:dPt>
          <c:dPt>
            <c:idx val="3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030D-4D4B-A0BC-9AC230825E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Price 1</c:v>
                </c:pt>
                <c:pt idx="1">
                  <c:v>Price 2</c:v>
                </c:pt>
                <c:pt idx="2">
                  <c:v>Price 3</c:v>
                </c:pt>
                <c:pt idx="3">
                  <c:v>Price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4295</c:v>
                </c:pt>
                <c:pt idx="1">
                  <c:v>2858</c:v>
                </c:pt>
                <c:pt idx="2">
                  <c:v>1111</c:v>
                </c:pt>
                <c:pt idx="3">
                  <c:v>388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2E67-40AC-B1B2-143CB7ABFE9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355"/>
        <c:overlap val="-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AVG. VOTES / RESTAURANT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Avg. votes / restaurant</c:v>
                </c:pt>
              </c:strCache>
            </c:strRef>
          </c:tx>
          <c:spPr>
            <a:solidFill>
              <a:srgbClr val="FF0000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A9B4-43EB-83E4-4934289BC36D}"/>
              </c:ext>
            </c:extLst>
          </c:dPt>
          <c:dPt>
            <c:idx val="1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A9B4-43EB-83E4-4934289BC36D}"/>
              </c:ext>
            </c:extLst>
          </c:dPt>
          <c:dPt>
            <c:idx val="2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A9B4-43EB-83E4-4934289BC36D}"/>
              </c:ext>
            </c:extLst>
          </c:dPt>
          <c:dPt>
            <c:idx val="3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A9B4-43EB-83E4-4934289BC36D}"/>
              </c:ext>
            </c:extLst>
          </c:dPt>
          <c:dPt>
            <c:idx val="4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A9B4-43EB-83E4-4934289BC36D}"/>
              </c:ext>
            </c:extLst>
          </c:dPt>
          <c:dPt>
            <c:idx val="5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A9B4-43EB-83E4-4934289BC36D}"/>
              </c:ext>
            </c:extLst>
          </c:dPt>
          <c:dPt>
            <c:idx val="6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D-A9B4-43EB-83E4-4934289BC36D}"/>
              </c:ext>
            </c:extLst>
          </c:dPt>
          <c:dPt>
            <c:idx val="7"/>
            <c:invertIfNegative val="1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40000" dist="23000" dir="5400000" rotWithShape="0">
                  <a:srgbClr val="000000">
                    <a:alpha val="35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F-A9B4-43EB-83E4-4934289BC36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Indonesia</c:v>
                </c:pt>
                <c:pt idx="1">
                  <c:v>Philippines</c:v>
                </c:pt>
                <c:pt idx="2">
                  <c:v>New Zealand</c:v>
                </c:pt>
                <c:pt idx="3">
                  <c:v>Qatar</c:v>
                </c:pt>
                <c:pt idx="4">
                  <c:v>India</c:v>
                </c:pt>
                <c:pt idx="5">
                  <c:v>Australia</c:v>
                </c:pt>
                <c:pt idx="6">
                  <c:v>Canada</c:v>
                </c:pt>
                <c:pt idx="7">
                  <c:v>Singapore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772.1</c:v>
                </c:pt>
                <c:pt idx="1">
                  <c:v>407.4</c:v>
                </c:pt>
                <c:pt idx="2">
                  <c:v>243</c:v>
                </c:pt>
                <c:pt idx="3">
                  <c:v>163.80000000000001</c:v>
                </c:pt>
                <c:pt idx="4">
                  <c:v>137.19999999999999</c:v>
                </c:pt>
                <c:pt idx="5">
                  <c:v>111.4</c:v>
                </c:pt>
                <c:pt idx="6">
                  <c:v>103</c:v>
                </c:pt>
                <c:pt idx="7">
                  <c:v>31.9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3A3-4D1B-95D0-F6F7A4669BE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cap="none" spc="2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r>
              <a:rPr lang="en-US" dirty="0"/>
              <a:t>AVERAGE RATING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cap="none" spc="20" baseline="0">
              <a:solidFill>
                <a:schemeClr val="tx1"/>
              </a:solidFill>
              <a:latin typeface="Aptos" panose="020B0004020202020204" pitchFamily="34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Average rating</c:v>
                </c:pt>
              </c:strCache>
            </c:strRef>
          </c:tx>
          <c:spPr>
            <a:solidFill>
              <a:srgbClr val="FF0000"/>
            </a:solidFill>
            <a:ln>
              <a:solidFill>
                <a:srgbClr val="FF0000"/>
              </a:solidFill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65CB-444D-A460-757ED1C00B6B}"/>
              </c:ext>
            </c:extLst>
          </c:dPt>
          <c:dPt>
            <c:idx val="1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65CB-444D-A460-757ED1C00B6B}"/>
              </c:ext>
            </c:extLst>
          </c:dPt>
          <c:dPt>
            <c:idx val="2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65CB-444D-A460-757ED1C00B6B}"/>
              </c:ext>
            </c:extLst>
          </c:dPt>
          <c:dPt>
            <c:idx val="3"/>
            <c:invertIfNegative val="1"/>
            <c:bubble3D val="0"/>
            <c:spPr>
              <a:solidFill>
                <a:srgbClr val="FF0000"/>
              </a:solidFill>
              <a:ln w="9525" cap="flat" cmpd="sng" algn="ctr">
                <a:solidFill>
                  <a:srgbClr val="FF0000"/>
                </a:solidFill>
                <a:round/>
              </a:ln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65CB-444D-A460-757ED1C00B6B}"/>
              </c:ext>
            </c:extLst>
          </c:dPt>
          <c:cat>
            <c:strRef>
              <c:f>Sheet1!$A$2:$A$5</c:f>
              <c:strCache>
                <c:ptCount val="4"/>
                <c:pt idx="0">
                  <c:v>Sri Lanka</c:v>
                </c:pt>
                <c:pt idx="1">
                  <c:v>Australia</c:v>
                </c:pt>
                <c:pt idx="2">
                  <c:v>Canada</c:v>
                </c:pt>
                <c:pt idx="3">
                  <c:v>Singapore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3.87</c:v>
                </c:pt>
                <c:pt idx="1">
                  <c:v>3.66</c:v>
                </c:pt>
                <c:pt idx="2">
                  <c:v>3.58</c:v>
                </c:pt>
                <c:pt idx="3">
                  <c:v>3.58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0000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1D0-4717-BF1B-0C8FBC06D5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-2068027336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>
            <a:solidFill>
              <a:schemeClr val="tx1">
                <a:lumMod val="15000"/>
                <a:lumOff val="85000"/>
              </a:schemeClr>
            </a:solidFill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</c:dTable>
      <c:spPr>
        <a:noFill/>
        <a:ln>
          <a:noFill/>
        </a:ln>
        <a:effectLst/>
      </c:spPr>
    </c:plotArea>
    <c:plotVisOnly val="1"/>
    <c:dispBlanksAs val="gap"/>
    <c:showDLblsOverMax val="1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[Template (Zomato)11.xlsx]Sheet1!PivotTable6</c:name>
    <c:fmtId val="21"/>
  </c:pivotSource>
  <c:chart>
    <c:autoTitleDeleted val="1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rgbClr val="E23744"/>
          </a:solidFill>
          <a:ln>
            <a:solidFill>
              <a:srgbClr val="E23744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rgbClr val="E23744"/>
          </a:solidFill>
          <a:ln>
            <a:solidFill>
              <a:srgbClr val="E23744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rgbClr val="E23744"/>
          </a:solidFill>
          <a:ln>
            <a:solidFill>
              <a:srgbClr val="E23744"/>
            </a:solidFill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Aptos" panose="020B0004020202020204" pitchFamily="34" charset="0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3825284485720837"/>
          <c:y val="0.25787611507053065"/>
          <c:w val="0.84941266082998368"/>
          <c:h val="0.559133975204091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Sheet1!$H$5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FF0000"/>
            </a:solidFill>
            <a:ln>
              <a:solidFill>
                <a:srgbClr val="FF0000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ptos" panose="020B0004020202020204" pitchFamily="34" charset="0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Sheet1!$G$6:$G$13</c:f>
              <c:strCache>
                <c:ptCount val="7"/>
                <c:pt idx="0">
                  <c:v>Indonesia</c:v>
                </c:pt>
                <c:pt idx="1">
                  <c:v>New Zealand</c:v>
                </c:pt>
                <c:pt idx="2">
                  <c:v>Philippines</c:v>
                </c:pt>
                <c:pt idx="3">
                  <c:v>South Africa</c:v>
                </c:pt>
                <c:pt idx="4">
                  <c:v>Turkey</c:v>
                </c:pt>
                <c:pt idx="5">
                  <c:v>United Arab Emirates</c:v>
                </c:pt>
                <c:pt idx="6">
                  <c:v>United Kingdom</c:v>
                </c:pt>
              </c:strCache>
            </c:strRef>
          </c:cat>
          <c:val>
            <c:numRef>
              <c:f>Sheet1!$H$6:$H$13</c:f>
              <c:numCache>
                <c:formatCode>0.0</c:formatCode>
                <c:ptCount val="7"/>
                <c:pt idx="0">
                  <c:v>4.295238095238096</c:v>
                </c:pt>
                <c:pt idx="1">
                  <c:v>4.2624999999999993</c:v>
                </c:pt>
                <c:pt idx="2">
                  <c:v>4.4681818181818187</c:v>
                </c:pt>
                <c:pt idx="3">
                  <c:v>4.2100000000000009</c:v>
                </c:pt>
                <c:pt idx="4">
                  <c:v>4.3</c:v>
                </c:pt>
                <c:pt idx="5">
                  <c:v>4.2333333333333352</c:v>
                </c:pt>
                <c:pt idx="6">
                  <c:v>4.0999999999999996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9E9-4333-998B-EE82954B0C0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2124706223"/>
        <c:axId val="2003568111"/>
      </c:barChart>
      <c:catAx>
        <c:axId val="2124706223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2003568111"/>
        <c:crosses val="autoZero"/>
        <c:auto val="1"/>
        <c:lblAlgn val="ctr"/>
        <c:lblOffset val="100"/>
        <c:noMultiLvlLbl val="0"/>
      </c:catAx>
      <c:valAx>
        <c:axId val="2003568111"/>
        <c:scaling>
          <c:orientation val="minMax"/>
        </c:scaling>
        <c:delete val="0"/>
        <c:axPos val="l"/>
        <c:numFmt formatCode="0.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ptos" panose="020B0004020202020204" pitchFamily="34" charset="0"/>
                <a:ea typeface="+mn-ea"/>
                <a:cs typeface="+mn-cs"/>
              </a:defRPr>
            </a:pPr>
            <a:endParaRPr lang="en-US"/>
          </a:p>
        </c:txPr>
        <c:crossAx val="21247062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chemeClr val="bg1"/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userShapes r:id="rId4"/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64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064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5400000" scaled="0"/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5000"/>
                <a:lumOff val="95000"/>
              </a:schemeClr>
            </a:gs>
            <a:gs pos="0">
              <a:schemeClr val="tx1">
                <a:lumMod val="25000"/>
                <a:lumOff val="7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20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6">
  <cs:axisTitle>
    <cs:lnRef idx="0"/>
    <cs:fillRef idx="0"/>
    <cs:effectRef idx="0"/>
    <cs:fontRef idx="minor">
      <a:schemeClr val="tx1">
        <a:lumMod val="50000"/>
        <a:lumOff val="50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862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drawing1.xml><?xml version="1.0" encoding="utf-8"?>
<c:userShapes xmlns:c="http://schemas.openxmlformats.org/drawingml/2006/chart">
  <cdr:relSizeAnchor xmlns:cdr="http://schemas.openxmlformats.org/drawingml/2006/chartDrawing">
    <cdr:from>
      <cdr:x>0.19969</cdr:x>
      <cdr:y>0.01811</cdr:y>
    </cdr:from>
    <cdr:to>
      <cdr:x>0.76087</cdr:x>
      <cdr:y>0.11809</cdr:y>
    </cdr:to>
    <cdr:sp macro="" textlink="">
      <cdr:nvSpPr>
        <cdr:cNvPr id="3" name="Rectangle 2">
          <a:extLst xmlns:a="http://schemas.openxmlformats.org/drawingml/2006/main">
            <a:ext uri="{FF2B5EF4-FFF2-40B4-BE49-F238E27FC236}">
              <a16:creationId xmlns:a16="http://schemas.microsoft.com/office/drawing/2014/main" id="{8CFCE075-2320-1EF9-8059-4C410E054EFE}"/>
            </a:ext>
          </a:extLst>
        </cdr:cNvPr>
        <cdr:cNvSpPr/>
      </cdr:nvSpPr>
      <cdr:spPr>
        <a:xfrm xmlns:a="http://schemas.openxmlformats.org/drawingml/2006/main">
          <a:off x="1254043" y="77884"/>
          <a:ext cx="3524250" cy="430011"/>
        </a:xfrm>
        <a:prstGeom xmlns:a="http://schemas.openxmlformats.org/drawingml/2006/main" prst="rect">
          <a:avLst/>
        </a:prstGeom>
        <a:solidFill xmlns:a="http://schemas.openxmlformats.org/drawingml/2006/main">
          <a:schemeClr val="bg1"/>
        </a:solidFill>
        <a:ln xmlns:a="http://schemas.openxmlformats.org/drawingml/2006/main">
          <a:solidFill>
            <a:schemeClr val="bg1"/>
          </a:solidFill>
        </a:ln>
      </cdr:spPr>
      <cdr:style>
        <a:lnRef xmlns:a="http://schemas.openxmlformats.org/drawingml/2006/main" idx="2">
          <a:schemeClr val="accent1">
            <a:shade val="15000"/>
          </a:schemeClr>
        </a:lnRef>
        <a:fillRef xmlns:a="http://schemas.openxmlformats.org/drawingml/2006/main" idx="1">
          <a:schemeClr val="accent1"/>
        </a:fillRef>
        <a:effectRef xmlns:a="http://schemas.openxmlformats.org/drawingml/2006/main" idx="0">
          <a:schemeClr val="accent1"/>
        </a:effectRef>
        <a:fontRef xmlns:a="http://schemas.openxmlformats.org/drawingml/2006/main" idx="minor">
          <a:schemeClr val="lt1"/>
        </a:fontRef>
      </cdr:style>
      <cdr:txBody>
        <a:bodyPr xmlns:a="http://schemas.openxmlformats.org/drawingml/2006/main" rtlCol="0" anchor="t"/>
        <a:lstStyle xmlns:a="http://schemas.openxmlformats.org/drawingml/2006/main">
          <a:lvl1pPr marL="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1pPr>
          <a:lvl2pPr marL="457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2pPr>
          <a:lvl3pPr marL="914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3pPr>
          <a:lvl4pPr marL="1371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4pPr>
          <a:lvl5pPr marL="18288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5pPr>
          <a:lvl6pPr marL="22860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6pPr>
          <a:lvl7pPr marL="27432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7pPr>
          <a:lvl8pPr marL="32004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8pPr>
          <a:lvl9pPr marL="3657600" indent="0">
            <a:defRPr sz="1100">
              <a:solidFill>
                <a:schemeClr val="lt1"/>
              </a:solidFill>
              <a:latin typeface="+mn-lt"/>
              <a:ea typeface="+mn-ea"/>
              <a:cs typeface="+mn-cs"/>
            </a:defRPr>
          </a:lvl9pPr>
        </a:lstStyle>
        <a:p xmlns:a="http://schemas.openxmlformats.org/drawingml/2006/main">
          <a:pPr algn="l"/>
          <a:r>
            <a:rPr lang="en-IN" sz="1600" b="1" dirty="0">
              <a:solidFill>
                <a:schemeClr val="tx1"/>
              </a:solidFill>
              <a:latin typeface="Aptos" panose="020B0004020202020204" pitchFamily="34" charset="0"/>
            </a:rPr>
            <a:t>AVERAGE RATING COUNTRY WISE</a:t>
          </a:r>
        </a:p>
      </cdr:txBody>
    </cdr:sp>
  </cdr:relSizeAnchor>
</c:userShape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56FD45-E0B1-4759-A869-E8851655F957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514AF3-009F-4A2B-9DDE-FE7720865A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2603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555480" y="-960120"/>
            <a:ext cx="3154680" cy="3154680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1051560" y="5897880"/>
            <a:ext cx="2880360" cy="2880360"/>
          </a:xfrm>
          <a:prstGeom prst="ellipse">
            <a:avLst/>
          </a:prstGeom>
          <a:solidFill>
            <a:srgbClr val="FAE0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927080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128248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1329415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530584" y="38404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927080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128248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329415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1530584" y="56692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927080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128248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329415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530584" y="74980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927080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128248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1329415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1530584" y="932688"/>
            <a:ext cx="50292" cy="5029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1051560"/>
            <a:ext cx="5989140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3600" b="1">
                <a:solidFill>
                  <a:srgbClr val="B4202D"/>
                </a:solidFill>
                <a:latin typeface="Georgia"/>
              </a:defRPr>
            </a:pPr>
            <a:r>
              <a:rPr lang="en-IN" dirty="0"/>
              <a:t>ZOMATO RESTAURANT</a:t>
            </a:r>
          </a:p>
          <a:p>
            <a:pPr>
              <a:spcBef>
                <a:spcPts val="0"/>
              </a:spcBef>
              <a:defRPr sz="3600" b="1">
                <a:solidFill>
                  <a:srgbClr val="232730"/>
                </a:solidFill>
                <a:latin typeface="Georgia"/>
              </a:defRPr>
            </a:pPr>
            <a:r>
              <a:rPr lang="en-IN" dirty="0"/>
              <a:t>EXPANSION ANALYSIS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017519"/>
            <a:ext cx="5212080" cy="288037"/>
          </a:xfrm>
          <a:prstGeom prst="rect">
            <a:avLst/>
          </a:prstGeom>
          <a:solidFill>
            <a:srgbClr val="DDA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246120" y="2816352"/>
            <a:ext cx="438912" cy="438912"/>
          </a:xfrm>
          <a:prstGeom prst="ellipse">
            <a:avLst/>
          </a:prstGeom>
          <a:solidFill>
            <a:srgbClr val="FAF8F4"/>
          </a:solidFill>
          <a:ln w="16510">
            <a:solidFill>
              <a:srgbClr val="DDAE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00984" y="2857500"/>
            <a:ext cx="320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/>
            </a:pPr>
            <a:r>
              <a:t>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29000"/>
            <a:ext cx="6900308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4F2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77824" y="3675887"/>
            <a:ext cx="438912" cy="43891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1832" y="3730752"/>
            <a:ext cx="310896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3584448"/>
            <a:ext cx="466344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232730"/>
                </a:solidFill>
                <a:latin typeface="Aptos"/>
              </a:defRPr>
            </a:pPr>
            <a:r>
              <a:rPr dirty="0"/>
              <a:t>Where should Zomato open its next restaurants?</a:t>
            </a:r>
          </a:p>
          <a:p>
            <a:pPr>
              <a:defRPr sz="1400">
                <a:solidFill>
                  <a:srgbClr val="232730"/>
                </a:solidFill>
                <a:latin typeface="Aptos"/>
              </a:defRPr>
            </a:pPr>
            <a:r>
              <a:rPr dirty="0"/>
              <a:t>A data-backed view on market gaps, quality benchmarks, and cost positioning.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47088" y="4882896"/>
            <a:ext cx="13716" cy="658368"/>
          </a:xfrm>
          <a:prstGeom prst="rect">
            <a:avLst/>
          </a:prstGeom>
          <a:solidFill>
            <a:srgbClr val="DDA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084831" y="4800600"/>
            <a:ext cx="2854756" cy="53860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32730"/>
                </a:solidFill>
                <a:latin typeface="Aptos"/>
              </a:defRPr>
            </a:pPr>
            <a:r>
              <a:rPr lang="en-IN" dirty="0"/>
              <a:t>CHILIKA PRIYADARSINI JENA</a:t>
            </a:r>
          </a:p>
          <a:p>
            <a:pPr>
              <a:defRPr sz="1300">
                <a:solidFill>
                  <a:srgbClr val="232730"/>
                </a:solidFill>
                <a:latin typeface="Aptos"/>
              </a:defRPr>
            </a:pPr>
            <a:r>
              <a:rPr lang="en-IN" dirty="0"/>
              <a:t>01 SEPTEMBER 2026</a:t>
            </a:r>
          </a:p>
        </p:txBody>
      </p:sp>
      <p:sp>
        <p:nvSpPr>
          <p:cNvPr id="32" name="Oval 31"/>
          <p:cNvSpPr/>
          <p:nvPr/>
        </p:nvSpPr>
        <p:spPr>
          <a:xfrm>
            <a:off x="8142732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8243316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343900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444484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545068" y="20208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019288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19872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220456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321040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8421624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8522208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8622792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8723376" y="21214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941564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042148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8142732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8243316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8343900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444484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8545068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8645652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8746236" y="222199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7918704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8019288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8119872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8220456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8321040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8421624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8522208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8622792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8723376" y="23225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7840980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7941564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8042148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8142732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243316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8343900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8444484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8545068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8645652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8746236" y="24231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7918704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8019288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8119872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8220456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8321040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8421624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8522208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8622792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8723376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7840980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7941564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804214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8142732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8243316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8343900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8444484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854506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8645652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8746236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91870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801928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8119872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8220456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8321040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842162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852220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8622792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8723376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794156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804214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8142732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8243316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343900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844448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854506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8645652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8746236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801928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8119872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8220456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8321040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8421624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852220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8622792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723376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804214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8142732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8243316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8343900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8444484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854506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8645652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8353044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8453628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8554212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8654796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Oval 128"/>
          <p:cNvSpPr/>
          <p:nvPr/>
        </p:nvSpPr>
        <p:spPr>
          <a:xfrm>
            <a:off x="8755380" y="17007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8330183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8430768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Oval 131"/>
          <p:cNvSpPr/>
          <p:nvPr/>
        </p:nvSpPr>
        <p:spPr>
          <a:xfrm>
            <a:off x="8531352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8631936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Oval 133"/>
          <p:cNvSpPr/>
          <p:nvPr/>
        </p:nvSpPr>
        <p:spPr>
          <a:xfrm>
            <a:off x="8732520" y="18013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8252460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Oval 135"/>
          <p:cNvSpPr/>
          <p:nvPr/>
        </p:nvSpPr>
        <p:spPr>
          <a:xfrm>
            <a:off x="8353044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Oval 136"/>
          <p:cNvSpPr/>
          <p:nvPr/>
        </p:nvSpPr>
        <p:spPr>
          <a:xfrm>
            <a:off x="8453628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Oval 137"/>
          <p:cNvSpPr/>
          <p:nvPr/>
        </p:nvSpPr>
        <p:spPr>
          <a:xfrm>
            <a:off x="8554212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8654796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8755380" y="19019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Oval 140"/>
          <p:cNvSpPr/>
          <p:nvPr/>
        </p:nvSpPr>
        <p:spPr>
          <a:xfrm>
            <a:off x="8330183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Oval 141"/>
          <p:cNvSpPr/>
          <p:nvPr/>
        </p:nvSpPr>
        <p:spPr>
          <a:xfrm>
            <a:off x="8430768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Oval 142"/>
          <p:cNvSpPr/>
          <p:nvPr/>
        </p:nvSpPr>
        <p:spPr>
          <a:xfrm>
            <a:off x="8531352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8631936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8732520" y="20025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Oval 145"/>
          <p:cNvSpPr/>
          <p:nvPr/>
        </p:nvSpPr>
        <p:spPr>
          <a:xfrm>
            <a:off x="8499348" y="33467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6"/>
          <p:cNvSpPr/>
          <p:nvPr/>
        </p:nvSpPr>
        <p:spPr>
          <a:xfrm>
            <a:off x="8599932" y="33467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Oval 147"/>
          <p:cNvSpPr/>
          <p:nvPr/>
        </p:nvSpPr>
        <p:spPr>
          <a:xfrm>
            <a:off x="8700516" y="33467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Oval 148"/>
          <p:cNvSpPr/>
          <p:nvPr/>
        </p:nvSpPr>
        <p:spPr>
          <a:xfrm>
            <a:off x="8375904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Oval 149"/>
          <p:cNvSpPr/>
          <p:nvPr/>
        </p:nvSpPr>
        <p:spPr>
          <a:xfrm>
            <a:off x="8476488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Oval 150"/>
          <p:cNvSpPr/>
          <p:nvPr/>
        </p:nvSpPr>
        <p:spPr>
          <a:xfrm>
            <a:off x="8577072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Oval 151"/>
          <p:cNvSpPr/>
          <p:nvPr/>
        </p:nvSpPr>
        <p:spPr>
          <a:xfrm>
            <a:off x="8677656" y="34472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Oval 152"/>
          <p:cNvSpPr/>
          <p:nvPr/>
        </p:nvSpPr>
        <p:spPr>
          <a:xfrm>
            <a:off x="8398764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Oval 153"/>
          <p:cNvSpPr/>
          <p:nvPr/>
        </p:nvSpPr>
        <p:spPr>
          <a:xfrm>
            <a:off x="8499348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8599932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Oval 155"/>
          <p:cNvSpPr/>
          <p:nvPr/>
        </p:nvSpPr>
        <p:spPr>
          <a:xfrm>
            <a:off x="8700516" y="35478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Oval 156"/>
          <p:cNvSpPr/>
          <p:nvPr/>
        </p:nvSpPr>
        <p:spPr>
          <a:xfrm>
            <a:off x="8375904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Oval 157"/>
          <p:cNvSpPr/>
          <p:nvPr/>
        </p:nvSpPr>
        <p:spPr>
          <a:xfrm>
            <a:off x="8476488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Oval 158"/>
          <p:cNvSpPr/>
          <p:nvPr/>
        </p:nvSpPr>
        <p:spPr>
          <a:xfrm>
            <a:off x="8577072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Oval 159"/>
          <p:cNvSpPr/>
          <p:nvPr/>
        </p:nvSpPr>
        <p:spPr>
          <a:xfrm>
            <a:off x="8677656" y="36484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Oval 160"/>
          <p:cNvSpPr/>
          <p:nvPr/>
        </p:nvSpPr>
        <p:spPr>
          <a:xfrm>
            <a:off x="8298180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Oval 161"/>
          <p:cNvSpPr/>
          <p:nvPr/>
        </p:nvSpPr>
        <p:spPr>
          <a:xfrm>
            <a:off x="8398764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Oval 162"/>
          <p:cNvSpPr/>
          <p:nvPr/>
        </p:nvSpPr>
        <p:spPr>
          <a:xfrm>
            <a:off x="8499348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Oval 163"/>
          <p:cNvSpPr/>
          <p:nvPr/>
        </p:nvSpPr>
        <p:spPr>
          <a:xfrm>
            <a:off x="8599932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Oval 164"/>
          <p:cNvSpPr/>
          <p:nvPr/>
        </p:nvSpPr>
        <p:spPr>
          <a:xfrm>
            <a:off x="8700516" y="3749039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Oval 165"/>
          <p:cNvSpPr/>
          <p:nvPr/>
        </p:nvSpPr>
        <p:spPr>
          <a:xfrm>
            <a:off x="8375904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Oval 166"/>
          <p:cNvSpPr/>
          <p:nvPr/>
        </p:nvSpPr>
        <p:spPr>
          <a:xfrm>
            <a:off x="8476488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Oval 167"/>
          <p:cNvSpPr/>
          <p:nvPr/>
        </p:nvSpPr>
        <p:spPr>
          <a:xfrm>
            <a:off x="8577072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Oval 168"/>
          <p:cNvSpPr/>
          <p:nvPr/>
        </p:nvSpPr>
        <p:spPr>
          <a:xfrm>
            <a:off x="8677656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Oval 169"/>
          <p:cNvSpPr/>
          <p:nvPr/>
        </p:nvSpPr>
        <p:spPr>
          <a:xfrm>
            <a:off x="8298180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Oval 170"/>
          <p:cNvSpPr/>
          <p:nvPr/>
        </p:nvSpPr>
        <p:spPr>
          <a:xfrm>
            <a:off x="8398764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Oval 171"/>
          <p:cNvSpPr/>
          <p:nvPr/>
        </p:nvSpPr>
        <p:spPr>
          <a:xfrm>
            <a:off x="8499348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Oval 172"/>
          <p:cNvSpPr/>
          <p:nvPr/>
        </p:nvSpPr>
        <p:spPr>
          <a:xfrm>
            <a:off x="8599932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Oval 173"/>
          <p:cNvSpPr/>
          <p:nvPr/>
        </p:nvSpPr>
        <p:spPr>
          <a:xfrm>
            <a:off x="8700516" y="395020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Oval 174"/>
          <p:cNvSpPr/>
          <p:nvPr/>
        </p:nvSpPr>
        <p:spPr>
          <a:xfrm>
            <a:off x="8375904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Oval 175"/>
          <p:cNvSpPr/>
          <p:nvPr/>
        </p:nvSpPr>
        <p:spPr>
          <a:xfrm>
            <a:off x="8476488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Oval 176"/>
          <p:cNvSpPr/>
          <p:nvPr/>
        </p:nvSpPr>
        <p:spPr>
          <a:xfrm>
            <a:off x="8577072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Oval 177"/>
          <p:cNvSpPr/>
          <p:nvPr/>
        </p:nvSpPr>
        <p:spPr>
          <a:xfrm>
            <a:off x="8677656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Oval 178"/>
          <p:cNvSpPr/>
          <p:nvPr/>
        </p:nvSpPr>
        <p:spPr>
          <a:xfrm>
            <a:off x="8298180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Oval 179"/>
          <p:cNvSpPr/>
          <p:nvPr/>
        </p:nvSpPr>
        <p:spPr>
          <a:xfrm>
            <a:off x="8398764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Oval 180"/>
          <p:cNvSpPr/>
          <p:nvPr/>
        </p:nvSpPr>
        <p:spPr>
          <a:xfrm>
            <a:off x="8499348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Oval 181"/>
          <p:cNvSpPr/>
          <p:nvPr/>
        </p:nvSpPr>
        <p:spPr>
          <a:xfrm>
            <a:off x="8599932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Oval 182"/>
          <p:cNvSpPr/>
          <p:nvPr/>
        </p:nvSpPr>
        <p:spPr>
          <a:xfrm>
            <a:off x="8700516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Oval 183"/>
          <p:cNvSpPr/>
          <p:nvPr/>
        </p:nvSpPr>
        <p:spPr>
          <a:xfrm>
            <a:off x="8375904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Oval 184"/>
          <p:cNvSpPr/>
          <p:nvPr/>
        </p:nvSpPr>
        <p:spPr>
          <a:xfrm>
            <a:off x="8476488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Oval 185"/>
          <p:cNvSpPr/>
          <p:nvPr/>
        </p:nvSpPr>
        <p:spPr>
          <a:xfrm>
            <a:off x="8577072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Oval 186"/>
          <p:cNvSpPr/>
          <p:nvPr/>
        </p:nvSpPr>
        <p:spPr>
          <a:xfrm>
            <a:off x="8677656" y="425196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Oval 187"/>
          <p:cNvSpPr/>
          <p:nvPr/>
        </p:nvSpPr>
        <p:spPr>
          <a:xfrm>
            <a:off x="8398764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Oval 188"/>
          <p:cNvSpPr/>
          <p:nvPr/>
        </p:nvSpPr>
        <p:spPr>
          <a:xfrm>
            <a:off x="8499348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Oval 189"/>
          <p:cNvSpPr/>
          <p:nvPr/>
        </p:nvSpPr>
        <p:spPr>
          <a:xfrm>
            <a:off x="8599932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Oval 190"/>
          <p:cNvSpPr/>
          <p:nvPr/>
        </p:nvSpPr>
        <p:spPr>
          <a:xfrm>
            <a:off x="8700516" y="43525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Oval 191"/>
          <p:cNvSpPr/>
          <p:nvPr/>
        </p:nvSpPr>
        <p:spPr>
          <a:xfrm>
            <a:off x="8476488" y="44531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Oval 192"/>
          <p:cNvSpPr/>
          <p:nvPr/>
        </p:nvSpPr>
        <p:spPr>
          <a:xfrm>
            <a:off x="8577072" y="44531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Oval 193"/>
          <p:cNvSpPr/>
          <p:nvPr/>
        </p:nvSpPr>
        <p:spPr>
          <a:xfrm>
            <a:off x="8677656" y="44531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Oval 194"/>
          <p:cNvSpPr/>
          <p:nvPr/>
        </p:nvSpPr>
        <p:spPr>
          <a:xfrm>
            <a:off x="9496044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Oval 195"/>
          <p:cNvSpPr/>
          <p:nvPr/>
        </p:nvSpPr>
        <p:spPr>
          <a:xfrm>
            <a:off x="9596628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Oval 196"/>
          <p:cNvSpPr/>
          <p:nvPr/>
        </p:nvSpPr>
        <p:spPr>
          <a:xfrm>
            <a:off x="9697212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Oval 197"/>
          <p:cNvSpPr/>
          <p:nvPr/>
        </p:nvSpPr>
        <p:spPr>
          <a:xfrm>
            <a:off x="9797796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Oval 198"/>
          <p:cNvSpPr/>
          <p:nvPr/>
        </p:nvSpPr>
        <p:spPr>
          <a:xfrm>
            <a:off x="9898380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Oval 199"/>
          <p:cNvSpPr/>
          <p:nvPr/>
        </p:nvSpPr>
        <p:spPr>
          <a:xfrm>
            <a:off x="9998964" y="1975103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Oval 200"/>
          <p:cNvSpPr/>
          <p:nvPr/>
        </p:nvSpPr>
        <p:spPr>
          <a:xfrm>
            <a:off x="9473184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Oval 201"/>
          <p:cNvSpPr/>
          <p:nvPr/>
        </p:nvSpPr>
        <p:spPr>
          <a:xfrm>
            <a:off x="9573768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Oval 202"/>
          <p:cNvSpPr/>
          <p:nvPr/>
        </p:nvSpPr>
        <p:spPr>
          <a:xfrm>
            <a:off x="9674352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Oval 203"/>
          <p:cNvSpPr/>
          <p:nvPr/>
        </p:nvSpPr>
        <p:spPr>
          <a:xfrm>
            <a:off x="9774936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Oval 204"/>
          <p:cNvSpPr/>
          <p:nvPr/>
        </p:nvSpPr>
        <p:spPr>
          <a:xfrm>
            <a:off x="9875520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Oval 205"/>
          <p:cNvSpPr/>
          <p:nvPr/>
        </p:nvSpPr>
        <p:spPr>
          <a:xfrm>
            <a:off x="9976104" y="20756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Oval 206"/>
          <p:cNvSpPr/>
          <p:nvPr/>
        </p:nvSpPr>
        <p:spPr>
          <a:xfrm>
            <a:off x="9395460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8" name="Oval 207"/>
          <p:cNvSpPr/>
          <p:nvPr/>
        </p:nvSpPr>
        <p:spPr>
          <a:xfrm>
            <a:off x="9496044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Oval 208"/>
          <p:cNvSpPr/>
          <p:nvPr/>
        </p:nvSpPr>
        <p:spPr>
          <a:xfrm>
            <a:off x="9596628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Oval 209"/>
          <p:cNvSpPr/>
          <p:nvPr/>
        </p:nvSpPr>
        <p:spPr>
          <a:xfrm>
            <a:off x="9697212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Oval 210"/>
          <p:cNvSpPr/>
          <p:nvPr/>
        </p:nvSpPr>
        <p:spPr>
          <a:xfrm>
            <a:off x="9797796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Oval 211"/>
          <p:cNvSpPr/>
          <p:nvPr/>
        </p:nvSpPr>
        <p:spPr>
          <a:xfrm>
            <a:off x="9898380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Oval 212"/>
          <p:cNvSpPr/>
          <p:nvPr/>
        </p:nvSpPr>
        <p:spPr>
          <a:xfrm>
            <a:off x="9998964" y="21762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Oval 213"/>
          <p:cNvSpPr/>
          <p:nvPr/>
        </p:nvSpPr>
        <p:spPr>
          <a:xfrm>
            <a:off x="9473184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Oval 214"/>
          <p:cNvSpPr/>
          <p:nvPr/>
        </p:nvSpPr>
        <p:spPr>
          <a:xfrm>
            <a:off x="9573768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6" name="Oval 215"/>
          <p:cNvSpPr/>
          <p:nvPr/>
        </p:nvSpPr>
        <p:spPr>
          <a:xfrm>
            <a:off x="9674352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Oval 216"/>
          <p:cNvSpPr/>
          <p:nvPr/>
        </p:nvSpPr>
        <p:spPr>
          <a:xfrm>
            <a:off x="9774936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Oval 217"/>
          <p:cNvSpPr/>
          <p:nvPr/>
        </p:nvSpPr>
        <p:spPr>
          <a:xfrm>
            <a:off x="9875520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Oval 218"/>
          <p:cNvSpPr/>
          <p:nvPr/>
        </p:nvSpPr>
        <p:spPr>
          <a:xfrm>
            <a:off x="9976104" y="227685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Oval 219"/>
          <p:cNvSpPr/>
          <p:nvPr/>
        </p:nvSpPr>
        <p:spPr>
          <a:xfrm>
            <a:off x="9642348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Oval 220"/>
          <p:cNvSpPr/>
          <p:nvPr/>
        </p:nvSpPr>
        <p:spPr>
          <a:xfrm>
            <a:off x="9742932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Oval 221"/>
          <p:cNvSpPr/>
          <p:nvPr/>
        </p:nvSpPr>
        <p:spPr>
          <a:xfrm>
            <a:off x="9843516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Oval 222"/>
          <p:cNvSpPr/>
          <p:nvPr/>
        </p:nvSpPr>
        <p:spPr>
          <a:xfrm>
            <a:off x="9944100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Oval 223"/>
          <p:cNvSpPr/>
          <p:nvPr/>
        </p:nvSpPr>
        <p:spPr>
          <a:xfrm>
            <a:off x="10044684" y="252374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Oval 224"/>
          <p:cNvSpPr/>
          <p:nvPr/>
        </p:nvSpPr>
        <p:spPr>
          <a:xfrm>
            <a:off x="961948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6" name="Oval 225"/>
          <p:cNvSpPr/>
          <p:nvPr/>
        </p:nvSpPr>
        <p:spPr>
          <a:xfrm>
            <a:off x="9720072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Oval 226"/>
          <p:cNvSpPr/>
          <p:nvPr/>
        </p:nvSpPr>
        <p:spPr>
          <a:xfrm>
            <a:off x="9820656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Oval 227"/>
          <p:cNvSpPr/>
          <p:nvPr/>
        </p:nvSpPr>
        <p:spPr>
          <a:xfrm>
            <a:off x="9921240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9" name="Oval 228"/>
          <p:cNvSpPr/>
          <p:nvPr/>
        </p:nvSpPr>
        <p:spPr>
          <a:xfrm>
            <a:off x="10021824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Oval 229"/>
          <p:cNvSpPr/>
          <p:nvPr/>
        </p:nvSpPr>
        <p:spPr>
          <a:xfrm>
            <a:off x="10122408" y="262432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Oval 230"/>
          <p:cNvSpPr/>
          <p:nvPr/>
        </p:nvSpPr>
        <p:spPr>
          <a:xfrm>
            <a:off x="954176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2" name="Oval 231"/>
          <p:cNvSpPr/>
          <p:nvPr/>
        </p:nvSpPr>
        <p:spPr>
          <a:xfrm>
            <a:off x="964234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3" name="Oval 232"/>
          <p:cNvSpPr/>
          <p:nvPr/>
        </p:nvSpPr>
        <p:spPr>
          <a:xfrm>
            <a:off x="9742932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4" name="Oval 233"/>
          <p:cNvSpPr/>
          <p:nvPr/>
        </p:nvSpPr>
        <p:spPr>
          <a:xfrm>
            <a:off x="9843516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Oval 234"/>
          <p:cNvSpPr/>
          <p:nvPr/>
        </p:nvSpPr>
        <p:spPr>
          <a:xfrm>
            <a:off x="9944100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6" name="Oval 235"/>
          <p:cNvSpPr/>
          <p:nvPr/>
        </p:nvSpPr>
        <p:spPr>
          <a:xfrm>
            <a:off x="10044684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7" name="Oval 236"/>
          <p:cNvSpPr/>
          <p:nvPr/>
        </p:nvSpPr>
        <p:spPr>
          <a:xfrm>
            <a:off x="10145268" y="272491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Oval 237"/>
          <p:cNvSpPr/>
          <p:nvPr/>
        </p:nvSpPr>
        <p:spPr>
          <a:xfrm>
            <a:off x="951890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Oval 238"/>
          <p:cNvSpPr/>
          <p:nvPr/>
        </p:nvSpPr>
        <p:spPr>
          <a:xfrm>
            <a:off x="961948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0" name="Oval 239"/>
          <p:cNvSpPr/>
          <p:nvPr/>
        </p:nvSpPr>
        <p:spPr>
          <a:xfrm>
            <a:off x="9720072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1" name="Oval 240"/>
          <p:cNvSpPr/>
          <p:nvPr/>
        </p:nvSpPr>
        <p:spPr>
          <a:xfrm>
            <a:off x="9820656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Oval 241"/>
          <p:cNvSpPr/>
          <p:nvPr/>
        </p:nvSpPr>
        <p:spPr>
          <a:xfrm>
            <a:off x="9921240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Oval 242"/>
          <p:cNvSpPr/>
          <p:nvPr/>
        </p:nvSpPr>
        <p:spPr>
          <a:xfrm>
            <a:off x="10021824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Oval 243"/>
          <p:cNvSpPr/>
          <p:nvPr/>
        </p:nvSpPr>
        <p:spPr>
          <a:xfrm>
            <a:off x="10122408" y="282549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Oval 244"/>
          <p:cNvSpPr/>
          <p:nvPr/>
        </p:nvSpPr>
        <p:spPr>
          <a:xfrm>
            <a:off x="9441180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Oval 245"/>
          <p:cNvSpPr/>
          <p:nvPr/>
        </p:nvSpPr>
        <p:spPr>
          <a:xfrm>
            <a:off x="9541764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Oval 246"/>
          <p:cNvSpPr/>
          <p:nvPr/>
        </p:nvSpPr>
        <p:spPr>
          <a:xfrm>
            <a:off x="964234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Oval 247"/>
          <p:cNvSpPr/>
          <p:nvPr/>
        </p:nvSpPr>
        <p:spPr>
          <a:xfrm>
            <a:off x="9742932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Oval 248"/>
          <p:cNvSpPr/>
          <p:nvPr/>
        </p:nvSpPr>
        <p:spPr>
          <a:xfrm>
            <a:off x="9843516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Oval 249"/>
          <p:cNvSpPr/>
          <p:nvPr/>
        </p:nvSpPr>
        <p:spPr>
          <a:xfrm>
            <a:off x="9944100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Oval 250"/>
          <p:cNvSpPr/>
          <p:nvPr/>
        </p:nvSpPr>
        <p:spPr>
          <a:xfrm>
            <a:off x="10044684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2" name="Oval 251"/>
          <p:cNvSpPr/>
          <p:nvPr/>
        </p:nvSpPr>
        <p:spPr>
          <a:xfrm>
            <a:off x="10145268" y="292608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3" name="Oval 252"/>
          <p:cNvSpPr/>
          <p:nvPr/>
        </p:nvSpPr>
        <p:spPr>
          <a:xfrm>
            <a:off x="9518904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4" name="Oval 253"/>
          <p:cNvSpPr/>
          <p:nvPr/>
        </p:nvSpPr>
        <p:spPr>
          <a:xfrm>
            <a:off x="961948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54"/>
          <p:cNvSpPr/>
          <p:nvPr/>
        </p:nvSpPr>
        <p:spPr>
          <a:xfrm>
            <a:off x="9720072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55"/>
          <p:cNvSpPr/>
          <p:nvPr/>
        </p:nvSpPr>
        <p:spPr>
          <a:xfrm>
            <a:off x="9820656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7" name="Oval 256"/>
          <p:cNvSpPr/>
          <p:nvPr/>
        </p:nvSpPr>
        <p:spPr>
          <a:xfrm>
            <a:off x="9921240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8" name="Oval 257"/>
          <p:cNvSpPr/>
          <p:nvPr/>
        </p:nvSpPr>
        <p:spPr>
          <a:xfrm>
            <a:off x="10021824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Oval 258"/>
          <p:cNvSpPr/>
          <p:nvPr/>
        </p:nvSpPr>
        <p:spPr>
          <a:xfrm>
            <a:off x="10122408" y="3026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0" name="Oval 259"/>
          <p:cNvSpPr/>
          <p:nvPr/>
        </p:nvSpPr>
        <p:spPr>
          <a:xfrm>
            <a:off x="9441180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1" name="Oval 260"/>
          <p:cNvSpPr/>
          <p:nvPr/>
        </p:nvSpPr>
        <p:spPr>
          <a:xfrm>
            <a:off x="9541764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2" name="Oval 261"/>
          <p:cNvSpPr/>
          <p:nvPr/>
        </p:nvSpPr>
        <p:spPr>
          <a:xfrm>
            <a:off x="9642348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2"/>
          <p:cNvSpPr/>
          <p:nvPr/>
        </p:nvSpPr>
        <p:spPr>
          <a:xfrm>
            <a:off x="9742932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Oval 263"/>
          <p:cNvSpPr/>
          <p:nvPr/>
        </p:nvSpPr>
        <p:spPr>
          <a:xfrm>
            <a:off x="9843516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Oval 264"/>
          <p:cNvSpPr/>
          <p:nvPr/>
        </p:nvSpPr>
        <p:spPr>
          <a:xfrm>
            <a:off x="9944100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6" name="Oval 265"/>
          <p:cNvSpPr/>
          <p:nvPr/>
        </p:nvSpPr>
        <p:spPr>
          <a:xfrm>
            <a:off x="10044684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Oval 266"/>
          <p:cNvSpPr/>
          <p:nvPr/>
        </p:nvSpPr>
        <p:spPr>
          <a:xfrm>
            <a:off x="10145268" y="3127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Oval 267"/>
          <p:cNvSpPr/>
          <p:nvPr/>
        </p:nvSpPr>
        <p:spPr>
          <a:xfrm>
            <a:off x="9518904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Oval 268"/>
          <p:cNvSpPr/>
          <p:nvPr/>
        </p:nvSpPr>
        <p:spPr>
          <a:xfrm>
            <a:off x="9619488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Oval 269"/>
          <p:cNvSpPr/>
          <p:nvPr/>
        </p:nvSpPr>
        <p:spPr>
          <a:xfrm>
            <a:off x="9720072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Oval 270"/>
          <p:cNvSpPr/>
          <p:nvPr/>
        </p:nvSpPr>
        <p:spPr>
          <a:xfrm>
            <a:off x="9820656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Oval 271"/>
          <p:cNvSpPr/>
          <p:nvPr/>
        </p:nvSpPr>
        <p:spPr>
          <a:xfrm>
            <a:off x="9921240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Oval 272"/>
          <p:cNvSpPr/>
          <p:nvPr/>
        </p:nvSpPr>
        <p:spPr>
          <a:xfrm>
            <a:off x="10021824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Oval 273"/>
          <p:cNvSpPr/>
          <p:nvPr/>
        </p:nvSpPr>
        <p:spPr>
          <a:xfrm>
            <a:off x="10122408" y="322783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Oval 274"/>
          <p:cNvSpPr/>
          <p:nvPr/>
        </p:nvSpPr>
        <p:spPr>
          <a:xfrm>
            <a:off x="9441180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6" name="Oval 275"/>
          <p:cNvSpPr/>
          <p:nvPr/>
        </p:nvSpPr>
        <p:spPr>
          <a:xfrm>
            <a:off x="9541764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7" name="Oval 276"/>
          <p:cNvSpPr/>
          <p:nvPr/>
        </p:nvSpPr>
        <p:spPr>
          <a:xfrm>
            <a:off x="9642348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8" name="Oval 277"/>
          <p:cNvSpPr/>
          <p:nvPr/>
        </p:nvSpPr>
        <p:spPr>
          <a:xfrm>
            <a:off x="9742932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Oval 278"/>
          <p:cNvSpPr/>
          <p:nvPr/>
        </p:nvSpPr>
        <p:spPr>
          <a:xfrm>
            <a:off x="9843516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0" name="Oval 279"/>
          <p:cNvSpPr/>
          <p:nvPr/>
        </p:nvSpPr>
        <p:spPr>
          <a:xfrm>
            <a:off x="9944100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1" name="Oval 280"/>
          <p:cNvSpPr/>
          <p:nvPr/>
        </p:nvSpPr>
        <p:spPr>
          <a:xfrm>
            <a:off x="10044684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2" name="Oval 281"/>
          <p:cNvSpPr/>
          <p:nvPr/>
        </p:nvSpPr>
        <p:spPr>
          <a:xfrm>
            <a:off x="10145268" y="3328415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Oval 282"/>
          <p:cNvSpPr/>
          <p:nvPr/>
        </p:nvSpPr>
        <p:spPr>
          <a:xfrm>
            <a:off x="9518904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4" name="Oval 283"/>
          <p:cNvSpPr/>
          <p:nvPr/>
        </p:nvSpPr>
        <p:spPr>
          <a:xfrm>
            <a:off x="9619488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Oval 284"/>
          <p:cNvSpPr/>
          <p:nvPr/>
        </p:nvSpPr>
        <p:spPr>
          <a:xfrm>
            <a:off x="9720072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6" name="Oval 285"/>
          <p:cNvSpPr/>
          <p:nvPr/>
        </p:nvSpPr>
        <p:spPr>
          <a:xfrm>
            <a:off x="9820656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Oval 286"/>
          <p:cNvSpPr/>
          <p:nvPr/>
        </p:nvSpPr>
        <p:spPr>
          <a:xfrm>
            <a:off x="9921240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8" name="Oval 287"/>
          <p:cNvSpPr/>
          <p:nvPr/>
        </p:nvSpPr>
        <p:spPr>
          <a:xfrm>
            <a:off x="10021824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9" name="Oval 288"/>
          <p:cNvSpPr/>
          <p:nvPr/>
        </p:nvSpPr>
        <p:spPr>
          <a:xfrm>
            <a:off x="10122408" y="3429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Oval 289"/>
          <p:cNvSpPr/>
          <p:nvPr/>
        </p:nvSpPr>
        <p:spPr>
          <a:xfrm>
            <a:off x="9541764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Oval 290"/>
          <p:cNvSpPr/>
          <p:nvPr/>
        </p:nvSpPr>
        <p:spPr>
          <a:xfrm>
            <a:off x="9642348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Oval 291"/>
          <p:cNvSpPr/>
          <p:nvPr/>
        </p:nvSpPr>
        <p:spPr>
          <a:xfrm>
            <a:off x="9742932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Oval 292"/>
          <p:cNvSpPr/>
          <p:nvPr/>
        </p:nvSpPr>
        <p:spPr>
          <a:xfrm>
            <a:off x="9843516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Oval 293"/>
          <p:cNvSpPr/>
          <p:nvPr/>
        </p:nvSpPr>
        <p:spPr>
          <a:xfrm>
            <a:off x="9944100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Oval 294"/>
          <p:cNvSpPr/>
          <p:nvPr/>
        </p:nvSpPr>
        <p:spPr>
          <a:xfrm>
            <a:off x="10044684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Oval 295"/>
          <p:cNvSpPr/>
          <p:nvPr/>
        </p:nvSpPr>
        <p:spPr>
          <a:xfrm>
            <a:off x="10145268" y="3529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Oval 296"/>
          <p:cNvSpPr/>
          <p:nvPr/>
        </p:nvSpPr>
        <p:spPr>
          <a:xfrm>
            <a:off x="9619488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Oval 297"/>
          <p:cNvSpPr/>
          <p:nvPr/>
        </p:nvSpPr>
        <p:spPr>
          <a:xfrm>
            <a:off x="9720072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Oval 298"/>
          <p:cNvSpPr/>
          <p:nvPr/>
        </p:nvSpPr>
        <p:spPr>
          <a:xfrm>
            <a:off x="9820656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Oval 299"/>
          <p:cNvSpPr/>
          <p:nvPr/>
        </p:nvSpPr>
        <p:spPr>
          <a:xfrm>
            <a:off x="9921240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1" name="Oval 300"/>
          <p:cNvSpPr/>
          <p:nvPr/>
        </p:nvSpPr>
        <p:spPr>
          <a:xfrm>
            <a:off x="10021824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2" name="Oval 301"/>
          <p:cNvSpPr/>
          <p:nvPr/>
        </p:nvSpPr>
        <p:spPr>
          <a:xfrm>
            <a:off x="10122408" y="3630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3" name="Oval 302"/>
          <p:cNvSpPr/>
          <p:nvPr/>
        </p:nvSpPr>
        <p:spPr>
          <a:xfrm>
            <a:off x="9642348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4" name="Oval 303"/>
          <p:cNvSpPr/>
          <p:nvPr/>
        </p:nvSpPr>
        <p:spPr>
          <a:xfrm>
            <a:off x="9742932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Oval 304"/>
          <p:cNvSpPr/>
          <p:nvPr/>
        </p:nvSpPr>
        <p:spPr>
          <a:xfrm>
            <a:off x="9843516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6" name="Oval 305"/>
          <p:cNvSpPr/>
          <p:nvPr/>
        </p:nvSpPr>
        <p:spPr>
          <a:xfrm>
            <a:off x="9944100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7" name="Oval 306"/>
          <p:cNvSpPr/>
          <p:nvPr/>
        </p:nvSpPr>
        <p:spPr>
          <a:xfrm>
            <a:off x="10044684" y="3730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8" name="Oval 307"/>
          <p:cNvSpPr/>
          <p:nvPr/>
        </p:nvSpPr>
        <p:spPr>
          <a:xfrm>
            <a:off x="10575036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Oval 308"/>
          <p:cNvSpPr/>
          <p:nvPr/>
        </p:nvSpPr>
        <p:spPr>
          <a:xfrm>
            <a:off x="10675620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0" name="Oval 309"/>
          <p:cNvSpPr/>
          <p:nvPr/>
        </p:nvSpPr>
        <p:spPr>
          <a:xfrm>
            <a:off x="10776204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1" name="Oval 310"/>
          <p:cNvSpPr/>
          <p:nvPr/>
        </p:nvSpPr>
        <p:spPr>
          <a:xfrm>
            <a:off x="10876788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2" name="Oval 311"/>
          <p:cNvSpPr/>
          <p:nvPr/>
        </p:nvSpPr>
        <p:spPr>
          <a:xfrm>
            <a:off x="10977372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Oval 312"/>
          <p:cNvSpPr/>
          <p:nvPr/>
        </p:nvSpPr>
        <p:spPr>
          <a:xfrm>
            <a:off x="11077956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4" name="Oval 313"/>
          <p:cNvSpPr/>
          <p:nvPr/>
        </p:nvSpPr>
        <p:spPr>
          <a:xfrm>
            <a:off x="11178540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5" name="Oval 314"/>
          <p:cNvSpPr/>
          <p:nvPr/>
        </p:nvSpPr>
        <p:spPr>
          <a:xfrm>
            <a:off x="11279124" y="188366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6" name="Oval 315"/>
          <p:cNvSpPr/>
          <p:nvPr/>
        </p:nvSpPr>
        <p:spPr>
          <a:xfrm>
            <a:off x="10451592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Oval 316"/>
          <p:cNvSpPr/>
          <p:nvPr/>
        </p:nvSpPr>
        <p:spPr>
          <a:xfrm>
            <a:off x="10552176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Oval 317"/>
          <p:cNvSpPr/>
          <p:nvPr/>
        </p:nvSpPr>
        <p:spPr>
          <a:xfrm>
            <a:off x="10652760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Oval 318"/>
          <p:cNvSpPr/>
          <p:nvPr/>
        </p:nvSpPr>
        <p:spPr>
          <a:xfrm>
            <a:off x="10753344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Oval 319"/>
          <p:cNvSpPr/>
          <p:nvPr/>
        </p:nvSpPr>
        <p:spPr>
          <a:xfrm>
            <a:off x="10853928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Oval 320"/>
          <p:cNvSpPr/>
          <p:nvPr/>
        </p:nvSpPr>
        <p:spPr>
          <a:xfrm>
            <a:off x="10954512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Oval 321"/>
          <p:cNvSpPr/>
          <p:nvPr/>
        </p:nvSpPr>
        <p:spPr>
          <a:xfrm>
            <a:off x="11055096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Oval 322"/>
          <p:cNvSpPr/>
          <p:nvPr/>
        </p:nvSpPr>
        <p:spPr>
          <a:xfrm>
            <a:off x="11155680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Oval 323"/>
          <p:cNvSpPr/>
          <p:nvPr/>
        </p:nvSpPr>
        <p:spPr>
          <a:xfrm>
            <a:off x="11256263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Oval 324"/>
          <p:cNvSpPr/>
          <p:nvPr/>
        </p:nvSpPr>
        <p:spPr>
          <a:xfrm>
            <a:off x="11356848" y="198424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6" name="Oval 325"/>
          <p:cNvSpPr/>
          <p:nvPr/>
        </p:nvSpPr>
        <p:spPr>
          <a:xfrm>
            <a:off x="10373868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7" name="Oval 326"/>
          <p:cNvSpPr/>
          <p:nvPr/>
        </p:nvSpPr>
        <p:spPr>
          <a:xfrm>
            <a:off x="10474452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8" name="Oval 327"/>
          <p:cNvSpPr/>
          <p:nvPr/>
        </p:nvSpPr>
        <p:spPr>
          <a:xfrm>
            <a:off x="10575036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Oval 328"/>
          <p:cNvSpPr/>
          <p:nvPr/>
        </p:nvSpPr>
        <p:spPr>
          <a:xfrm>
            <a:off x="10675620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0" name="Oval 329"/>
          <p:cNvSpPr/>
          <p:nvPr/>
        </p:nvSpPr>
        <p:spPr>
          <a:xfrm>
            <a:off x="10776204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1" name="Oval 330"/>
          <p:cNvSpPr/>
          <p:nvPr/>
        </p:nvSpPr>
        <p:spPr>
          <a:xfrm>
            <a:off x="10876788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2" name="Oval 331"/>
          <p:cNvSpPr/>
          <p:nvPr/>
        </p:nvSpPr>
        <p:spPr>
          <a:xfrm>
            <a:off x="10977372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Oval 332"/>
          <p:cNvSpPr/>
          <p:nvPr/>
        </p:nvSpPr>
        <p:spPr>
          <a:xfrm>
            <a:off x="11077956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4" name="Oval 333"/>
          <p:cNvSpPr/>
          <p:nvPr/>
        </p:nvSpPr>
        <p:spPr>
          <a:xfrm>
            <a:off x="11178540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5" name="Oval 334"/>
          <p:cNvSpPr/>
          <p:nvPr/>
        </p:nvSpPr>
        <p:spPr>
          <a:xfrm>
            <a:off x="11279124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6" name="Oval 335"/>
          <p:cNvSpPr/>
          <p:nvPr/>
        </p:nvSpPr>
        <p:spPr>
          <a:xfrm>
            <a:off x="11379708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Oval 336"/>
          <p:cNvSpPr/>
          <p:nvPr/>
        </p:nvSpPr>
        <p:spPr>
          <a:xfrm>
            <a:off x="11480292" y="208483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8" name="Oval 337"/>
          <p:cNvSpPr/>
          <p:nvPr/>
        </p:nvSpPr>
        <p:spPr>
          <a:xfrm>
            <a:off x="10250424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9" name="Oval 338"/>
          <p:cNvSpPr/>
          <p:nvPr/>
        </p:nvSpPr>
        <p:spPr>
          <a:xfrm>
            <a:off x="10351008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0" name="Oval 339"/>
          <p:cNvSpPr/>
          <p:nvPr/>
        </p:nvSpPr>
        <p:spPr>
          <a:xfrm>
            <a:off x="10451592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Oval 340"/>
          <p:cNvSpPr/>
          <p:nvPr/>
        </p:nvSpPr>
        <p:spPr>
          <a:xfrm>
            <a:off x="10552176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Oval 341"/>
          <p:cNvSpPr/>
          <p:nvPr/>
        </p:nvSpPr>
        <p:spPr>
          <a:xfrm>
            <a:off x="10652760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Oval 342"/>
          <p:cNvSpPr/>
          <p:nvPr/>
        </p:nvSpPr>
        <p:spPr>
          <a:xfrm>
            <a:off x="10753344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Oval 343"/>
          <p:cNvSpPr/>
          <p:nvPr/>
        </p:nvSpPr>
        <p:spPr>
          <a:xfrm>
            <a:off x="10853928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Oval 344"/>
          <p:cNvSpPr/>
          <p:nvPr/>
        </p:nvSpPr>
        <p:spPr>
          <a:xfrm>
            <a:off x="10954512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345"/>
          <p:cNvSpPr/>
          <p:nvPr/>
        </p:nvSpPr>
        <p:spPr>
          <a:xfrm>
            <a:off x="11055096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7" name="Oval 346"/>
          <p:cNvSpPr/>
          <p:nvPr/>
        </p:nvSpPr>
        <p:spPr>
          <a:xfrm>
            <a:off x="11155680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Oval 347"/>
          <p:cNvSpPr/>
          <p:nvPr/>
        </p:nvSpPr>
        <p:spPr>
          <a:xfrm>
            <a:off x="11256263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Oval 348"/>
          <p:cNvSpPr/>
          <p:nvPr/>
        </p:nvSpPr>
        <p:spPr>
          <a:xfrm>
            <a:off x="11356848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0" name="Oval 349"/>
          <p:cNvSpPr/>
          <p:nvPr/>
        </p:nvSpPr>
        <p:spPr>
          <a:xfrm>
            <a:off x="11457432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Oval 350"/>
          <p:cNvSpPr/>
          <p:nvPr/>
        </p:nvSpPr>
        <p:spPr>
          <a:xfrm>
            <a:off x="11558016" y="218541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2" name="Oval 351"/>
          <p:cNvSpPr/>
          <p:nvPr/>
        </p:nvSpPr>
        <p:spPr>
          <a:xfrm>
            <a:off x="10273284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Oval 352"/>
          <p:cNvSpPr/>
          <p:nvPr/>
        </p:nvSpPr>
        <p:spPr>
          <a:xfrm>
            <a:off x="10373868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4" name="Oval 353"/>
          <p:cNvSpPr/>
          <p:nvPr/>
        </p:nvSpPr>
        <p:spPr>
          <a:xfrm>
            <a:off x="10474452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Oval 354"/>
          <p:cNvSpPr/>
          <p:nvPr/>
        </p:nvSpPr>
        <p:spPr>
          <a:xfrm>
            <a:off x="10575036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6" name="Oval 355"/>
          <p:cNvSpPr/>
          <p:nvPr/>
        </p:nvSpPr>
        <p:spPr>
          <a:xfrm>
            <a:off x="10675620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Oval 356"/>
          <p:cNvSpPr/>
          <p:nvPr/>
        </p:nvSpPr>
        <p:spPr>
          <a:xfrm>
            <a:off x="10776204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Oval 357"/>
          <p:cNvSpPr/>
          <p:nvPr/>
        </p:nvSpPr>
        <p:spPr>
          <a:xfrm>
            <a:off x="10876788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9" name="Oval 358"/>
          <p:cNvSpPr/>
          <p:nvPr/>
        </p:nvSpPr>
        <p:spPr>
          <a:xfrm>
            <a:off x="10977372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0" name="Oval 359"/>
          <p:cNvSpPr/>
          <p:nvPr/>
        </p:nvSpPr>
        <p:spPr>
          <a:xfrm>
            <a:off x="11077956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1" name="Oval 360"/>
          <p:cNvSpPr/>
          <p:nvPr/>
        </p:nvSpPr>
        <p:spPr>
          <a:xfrm>
            <a:off x="11178540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2" name="Oval 361"/>
          <p:cNvSpPr/>
          <p:nvPr/>
        </p:nvSpPr>
        <p:spPr>
          <a:xfrm>
            <a:off x="11279124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Oval 362"/>
          <p:cNvSpPr/>
          <p:nvPr/>
        </p:nvSpPr>
        <p:spPr>
          <a:xfrm>
            <a:off x="11379708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4" name="Oval 363"/>
          <p:cNvSpPr/>
          <p:nvPr/>
        </p:nvSpPr>
        <p:spPr>
          <a:xfrm>
            <a:off x="11480292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5" name="Oval 364"/>
          <p:cNvSpPr/>
          <p:nvPr/>
        </p:nvSpPr>
        <p:spPr>
          <a:xfrm>
            <a:off x="11580876" y="228600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6" name="Oval 365"/>
          <p:cNvSpPr/>
          <p:nvPr/>
        </p:nvSpPr>
        <p:spPr>
          <a:xfrm>
            <a:off x="10250424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366"/>
          <p:cNvSpPr/>
          <p:nvPr/>
        </p:nvSpPr>
        <p:spPr>
          <a:xfrm>
            <a:off x="10351008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Oval 367"/>
          <p:cNvSpPr/>
          <p:nvPr/>
        </p:nvSpPr>
        <p:spPr>
          <a:xfrm>
            <a:off x="10451592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9" name="Oval 368"/>
          <p:cNvSpPr/>
          <p:nvPr/>
        </p:nvSpPr>
        <p:spPr>
          <a:xfrm>
            <a:off x="10552176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0" name="Oval 369"/>
          <p:cNvSpPr/>
          <p:nvPr/>
        </p:nvSpPr>
        <p:spPr>
          <a:xfrm>
            <a:off x="10652760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Oval 370"/>
          <p:cNvSpPr/>
          <p:nvPr/>
        </p:nvSpPr>
        <p:spPr>
          <a:xfrm>
            <a:off x="10753344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2" name="Oval 371"/>
          <p:cNvSpPr/>
          <p:nvPr/>
        </p:nvSpPr>
        <p:spPr>
          <a:xfrm>
            <a:off x="10853928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3" name="Oval 372"/>
          <p:cNvSpPr/>
          <p:nvPr/>
        </p:nvSpPr>
        <p:spPr>
          <a:xfrm>
            <a:off x="10954512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4" name="Oval 373"/>
          <p:cNvSpPr/>
          <p:nvPr/>
        </p:nvSpPr>
        <p:spPr>
          <a:xfrm>
            <a:off x="11055096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374"/>
          <p:cNvSpPr/>
          <p:nvPr/>
        </p:nvSpPr>
        <p:spPr>
          <a:xfrm>
            <a:off x="11155680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Oval 375"/>
          <p:cNvSpPr/>
          <p:nvPr/>
        </p:nvSpPr>
        <p:spPr>
          <a:xfrm>
            <a:off x="11256263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7" name="Oval 376"/>
          <p:cNvSpPr/>
          <p:nvPr/>
        </p:nvSpPr>
        <p:spPr>
          <a:xfrm>
            <a:off x="11356848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8" name="Oval 377"/>
          <p:cNvSpPr/>
          <p:nvPr/>
        </p:nvSpPr>
        <p:spPr>
          <a:xfrm>
            <a:off x="11457432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Oval 378"/>
          <p:cNvSpPr/>
          <p:nvPr/>
        </p:nvSpPr>
        <p:spPr>
          <a:xfrm>
            <a:off x="11558016" y="238658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0" name="Oval 379"/>
          <p:cNvSpPr/>
          <p:nvPr/>
        </p:nvSpPr>
        <p:spPr>
          <a:xfrm>
            <a:off x="10172700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Oval 380"/>
          <p:cNvSpPr/>
          <p:nvPr/>
        </p:nvSpPr>
        <p:spPr>
          <a:xfrm>
            <a:off x="10273284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2" name="Oval 381"/>
          <p:cNvSpPr/>
          <p:nvPr/>
        </p:nvSpPr>
        <p:spPr>
          <a:xfrm>
            <a:off x="10373868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82"/>
          <p:cNvSpPr/>
          <p:nvPr/>
        </p:nvSpPr>
        <p:spPr>
          <a:xfrm>
            <a:off x="10474452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Oval 383"/>
          <p:cNvSpPr/>
          <p:nvPr/>
        </p:nvSpPr>
        <p:spPr>
          <a:xfrm>
            <a:off x="10575036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5" name="Oval 384"/>
          <p:cNvSpPr/>
          <p:nvPr/>
        </p:nvSpPr>
        <p:spPr>
          <a:xfrm>
            <a:off x="10675620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6" name="Oval 385"/>
          <p:cNvSpPr/>
          <p:nvPr/>
        </p:nvSpPr>
        <p:spPr>
          <a:xfrm>
            <a:off x="10776204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Oval 386"/>
          <p:cNvSpPr/>
          <p:nvPr/>
        </p:nvSpPr>
        <p:spPr>
          <a:xfrm>
            <a:off x="10876788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8" name="Oval 387"/>
          <p:cNvSpPr/>
          <p:nvPr/>
        </p:nvSpPr>
        <p:spPr>
          <a:xfrm>
            <a:off x="10977372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9" name="Oval 388"/>
          <p:cNvSpPr/>
          <p:nvPr/>
        </p:nvSpPr>
        <p:spPr>
          <a:xfrm>
            <a:off x="11077956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0" name="Oval 389"/>
          <p:cNvSpPr/>
          <p:nvPr/>
        </p:nvSpPr>
        <p:spPr>
          <a:xfrm>
            <a:off x="11178540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390"/>
          <p:cNvSpPr/>
          <p:nvPr/>
        </p:nvSpPr>
        <p:spPr>
          <a:xfrm>
            <a:off x="11279124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Oval 391"/>
          <p:cNvSpPr/>
          <p:nvPr/>
        </p:nvSpPr>
        <p:spPr>
          <a:xfrm>
            <a:off x="11379708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Oval 392"/>
          <p:cNvSpPr/>
          <p:nvPr/>
        </p:nvSpPr>
        <p:spPr>
          <a:xfrm>
            <a:off x="11480292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4" name="Oval 393"/>
          <p:cNvSpPr/>
          <p:nvPr/>
        </p:nvSpPr>
        <p:spPr>
          <a:xfrm>
            <a:off x="11580876" y="248716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Oval 394"/>
          <p:cNvSpPr/>
          <p:nvPr/>
        </p:nvSpPr>
        <p:spPr>
          <a:xfrm>
            <a:off x="10250424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6" name="Oval 395"/>
          <p:cNvSpPr/>
          <p:nvPr/>
        </p:nvSpPr>
        <p:spPr>
          <a:xfrm>
            <a:off x="10351008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7" name="Oval 396"/>
          <p:cNvSpPr/>
          <p:nvPr/>
        </p:nvSpPr>
        <p:spPr>
          <a:xfrm>
            <a:off x="10451592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8" name="Oval 397"/>
          <p:cNvSpPr/>
          <p:nvPr/>
        </p:nvSpPr>
        <p:spPr>
          <a:xfrm>
            <a:off x="10552176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398"/>
          <p:cNvSpPr/>
          <p:nvPr/>
        </p:nvSpPr>
        <p:spPr>
          <a:xfrm>
            <a:off x="10652760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Oval 399"/>
          <p:cNvSpPr/>
          <p:nvPr/>
        </p:nvSpPr>
        <p:spPr>
          <a:xfrm>
            <a:off x="10753344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1" name="Oval 400"/>
          <p:cNvSpPr/>
          <p:nvPr/>
        </p:nvSpPr>
        <p:spPr>
          <a:xfrm>
            <a:off x="10853928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Oval 401"/>
          <p:cNvSpPr/>
          <p:nvPr/>
        </p:nvSpPr>
        <p:spPr>
          <a:xfrm>
            <a:off x="10954512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3" name="Oval 402"/>
          <p:cNvSpPr/>
          <p:nvPr/>
        </p:nvSpPr>
        <p:spPr>
          <a:xfrm>
            <a:off x="11055096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4" name="Oval 403"/>
          <p:cNvSpPr/>
          <p:nvPr/>
        </p:nvSpPr>
        <p:spPr>
          <a:xfrm>
            <a:off x="11155680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5" name="Oval 404"/>
          <p:cNvSpPr/>
          <p:nvPr/>
        </p:nvSpPr>
        <p:spPr>
          <a:xfrm>
            <a:off x="11256263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6" name="Oval 405"/>
          <p:cNvSpPr/>
          <p:nvPr/>
        </p:nvSpPr>
        <p:spPr>
          <a:xfrm>
            <a:off x="11356848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7" name="Oval 406"/>
          <p:cNvSpPr/>
          <p:nvPr/>
        </p:nvSpPr>
        <p:spPr>
          <a:xfrm>
            <a:off x="11457432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Oval 407"/>
          <p:cNvSpPr/>
          <p:nvPr/>
        </p:nvSpPr>
        <p:spPr>
          <a:xfrm>
            <a:off x="11558016" y="258775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Oval 408"/>
          <p:cNvSpPr/>
          <p:nvPr/>
        </p:nvSpPr>
        <p:spPr>
          <a:xfrm>
            <a:off x="10273284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0" name="Oval 409"/>
          <p:cNvSpPr/>
          <p:nvPr/>
        </p:nvSpPr>
        <p:spPr>
          <a:xfrm>
            <a:off x="10373868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1" name="Oval 410"/>
          <p:cNvSpPr/>
          <p:nvPr/>
        </p:nvSpPr>
        <p:spPr>
          <a:xfrm>
            <a:off x="10474452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Oval 411"/>
          <p:cNvSpPr/>
          <p:nvPr/>
        </p:nvSpPr>
        <p:spPr>
          <a:xfrm>
            <a:off x="10575036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Oval 412"/>
          <p:cNvSpPr/>
          <p:nvPr/>
        </p:nvSpPr>
        <p:spPr>
          <a:xfrm>
            <a:off x="10675620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4" name="Oval 413"/>
          <p:cNvSpPr/>
          <p:nvPr/>
        </p:nvSpPr>
        <p:spPr>
          <a:xfrm>
            <a:off x="10776204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5" name="Oval 414"/>
          <p:cNvSpPr/>
          <p:nvPr/>
        </p:nvSpPr>
        <p:spPr>
          <a:xfrm>
            <a:off x="10876788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Oval 415"/>
          <p:cNvSpPr/>
          <p:nvPr/>
        </p:nvSpPr>
        <p:spPr>
          <a:xfrm>
            <a:off x="10977372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Oval 416"/>
          <p:cNvSpPr/>
          <p:nvPr/>
        </p:nvSpPr>
        <p:spPr>
          <a:xfrm>
            <a:off x="11077956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8" name="Oval 417"/>
          <p:cNvSpPr/>
          <p:nvPr/>
        </p:nvSpPr>
        <p:spPr>
          <a:xfrm>
            <a:off x="11178540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9" name="Oval 418"/>
          <p:cNvSpPr/>
          <p:nvPr/>
        </p:nvSpPr>
        <p:spPr>
          <a:xfrm>
            <a:off x="11279124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Oval 419"/>
          <p:cNvSpPr/>
          <p:nvPr/>
        </p:nvSpPr>
        <p:spPr>
          <a:xfrm>
            <a:off x="11379708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Oval 420"/>
          <p:cNvSpPr/>
          <p:nvPr/>
        </p:nvSpPr>
        <p:spPr>
          <a:xfrm>
            <a:off x="11480292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2" name="Oval 421"/>
          <p:cNvSpPr/>
          <p:nvPr/>
        </p:nvSpPr>
        <p:spPr>
          <a:xfrm>
            <a:off x="11580876" y="268833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3" name="Oval 422"/>
          <p:cNvSpPr/>
          <p:nvPr/>
        </p:nvSpPr>
        <p:spPr>
          <a:xfrm>
            <a:off x="10250424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Oval 423"/>
          <p:cNvSpPr/>
          <p:nvPr/>
        </p:nvSpPr>
        <p:spPr>
          <a:xfrm>
            <a:off x="10351008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Oval 424"/>
          <p:cNvSpPr/>
          <p:nvPr/>
        </p:nvSpPr>
        <p:spPr>
          <a:xfrm>
            <a:off x="10451592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6" name="Oval 425"/>
          <p:cNvSpPr/>
          <p:nvPr/>
        </p:nvSpPr>
        <p:spPr>
          <a:xfrm>
            <a:off x="10552176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7" name="Oval 426"/>
          <p:cNvSpPr/>
          <p:nvPr/>
        </p:nvSpPr>
        <p:spPr>
          <a:xfrm>
            <a:off x="10652760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Oval 427"/>
          <p:cNvSpPr/>
          <p:nvPr/>
        </p:nvSpPr>
        <p:spPr>
          <a:xfrm>
            <a:off x="10753344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Oval 428"/>
          <p:cNvSpPr/>
          <p:nvPr/>
        </p:nvSpPr>
        <p:spPr>
          <a:xfrm>
            <a:off x="10853928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0" name="Oval 429"/>
          <p:cNvSpPr/>
          <p:nvPr/>
        </p:nvSpPr>
        <p:spPr>
          <a:xfrm>
            <a:off x="10954512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1" name="Oval 430"/>
          <p:cNvSpPr/>
          <p:nvPr/>
        </p:nvSpPr>
        <p:spPr>
          <a:xfrm>
            <a:off x="11055096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2" name="Oval 431"/>
          <p:cNvSpPr/>
          <p:nvPr/>
        </p:nvSpPr>
        <p:spPr>
          <a:xfrm>
            <a:off x="11155680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Oval 432"/>
          <p:cNvSpPr/>
          <p:nvPr/>
        </p:nvSpPr>
        <p:spPr>
          <a:xfrm>
            <a:off x="11256263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4" name="Oval 433"/>
          <p:cNvSpPr/>
          <p:nvPr/>
        </p:nvSpPr>
        <p:spPr>
          <a:xfrm>
            <a:off x="11356848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Oval 434"/>
          <p:cNvSpPr/>
          <p:nvPr/>
        </p:nvSpPr>
        <p:spPr>
          <a:xfrm>
            <a:off x="11457432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6" name="Oval 435"/>
          <p:cNvSpPr/>
          <p:nvPr/>
        </p:nvSpPr>
        <p:spPr>
          <a:xfrm>
            <a:off x="11558016" y="2788920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Oval 436"/>
          <p:cNvSpPr/>
          <p:nvPr/>
        </p:nvSpPr>
        <p:spPr>
          <a:xfrm>
            <a:off x="10373868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8" name="Oval 437"/>
          <p:cNvSpPr/>
          <p:nvPr/>
        </p:nvSpPr>
        <p:spPr>
          <a:xfrm>
            <a:off x="10474452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9" name="Oval 438"/>
          <p:cNvSpPr/>
          <p:nvPr/>
        </p:nvSpPr>
        <p:spPr>
          <a:xfrm>
            <a:off x="10575036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0" name="Oval 439"/>
          <p:cNvSpPr/>
          <p:nvPr/>
        </p:nvSpPr>
        <p:spPr>
          <a:xfrm>
            <a:off x="10675620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1" name="Oval 440"/>
          <p:cNvSpPr/>
          <p:nvPr/>
        </p:nvSpPr>
        <p:spPr>
          <a:xfrm>
            <a:off x="10776204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2" name="Oval 441"/>
          <p:cNvSpPr/>
          <p:nvPr/>
        </p:nvSpPr>
        <p:spPr>
          <a:xfrm>
            <a:off x="10876788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Oval 442"/>
          <p:cNvSpPr/>
          <p:nvPr/>
        </p:nvSpPr>
        <p:spPr>
          <a:xfrm>
            <a:off x="10977372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4" name="Oval 443"/>
          <p:cNvSpPr/>
          <p:nvPr/>
        </p:nvSpPr>
        <p:spPr>
          <a:xfrm>
            <a:off x="11077956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5" name="Oval 444"/>
          <p:cNvSpPr/>
          <p:nvPr/>
        </p:nvSpPr>
        <p:spPr>
          <a:xfrm>
            <a:off x="11178540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Oval 445"/>
          <p:cNvSpPr/>
          <p:nvPr/>
        </p:nvSpPr>
        <p:spPr>
          <a:xfrm>
            <a:off x="11279124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Oval 446"/>
          <p:cNvSpPr/>
          <p:nvPr/>
        </p:nvSpPr>
        <p:spPr>
          <a:xfrm>
            <a:off x="11379708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8" name="Oval 447"/>
          <p:cNvSpPr/>
          <p:nvPr/>
        </p:nvSpPr>
        <p:spPr>
          <a:xfrm>
            <a:off x="11480292" y="288950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Oval 448"/>
          <p:cNvSpPr/>
          <p:nvPr/>
        </p:nvSpPr>
        <p:spPr>
          <a:xfrm>
            <a:off x="10451592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0" name="Oval 449"/>
          <p:cNvSpPr/>
          <p:nvPr/>
        </p:nvSpPr>
        <p:spPr>
          <a:xfrm>
            <a:off x="10552176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Oval 450"/>
          <p:cNvSpPr/>
          <p:nvPr/>
        </p:nvSpPr>
        <p:spPr>
          <a:xfrm>
            <a:off x="10652760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Oval 451"/>
          <p:cNvSpPr/>
          <p:nvPr/>
        </p:nvSpPr>
        <p:spPr>
          <a:xfrm>
            <a:off x="10753344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3" name="Oval 452"/>
          <p:cNvSpPr/>
          <p:nvPr/>
        </p:nvSpPr>
        <p:spPr>
          <a:xfrm>
            <a:off x="10853928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4" name="Oval 453"/>
          <p:cNvSpPr/>
          <p:nvPr/>
        </p:nvSpPr>
        <p:spPr>
          <a:xfrm>
            <a:off x="10954512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Oval 454"/>
          <p:cNvSpPr/>
          <p:nvPr/>
        </p:nvSpPr>
        <p:spPr>
          <a:xfrm>
            <a:off x="11055096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6" name="Oval 455"/>
          <p:cNvSpPr/>
          <p:nvPr/>
        </p:nvSpPr>
        <p:spPr>
          <a:xfrm>
            <a:off x="11155680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7" name="Oval 456"/>
          <p:cNvSpPr/>
          <p:nvPr/>
        </p:nvSpPr>
        <p:spPr>
          <a:xfrm>
            <a:off x="11256263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8" name="Oval 457"/>
          <p:cNvSpPr/>
          <p:nvPr/>
        </p:nvSpPr>
        <p:spPr>
          <a:xfrm>
            <a:off x="11356848" y="2990088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Oval 458"/>
          <p:cNvSpPr/>
          <p:nvPr/>
        </p:nvSpPr>
        <p:spPr>
          <a:xfrm>
            <a:off x="10575036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Oval 459"/>
          <p:cNvSpPr/>
          <p:nvPr/>
        </p:nvSpPr>
        <p:spPr>
          <a:xfrm>
            <a:off x="10675620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1" name="Oval 460"/>
          <p:cNvSpPr/>
          <p:nvPr/>
        </p:nvSpPr>
        <p:spPr>
          <a:xfrm>
            <a:off x="10776204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2" name="Oval 461"/>
          <p:cNvSpPr/>
          <p:nvPr/>
        </p:nvSpPr>
        <p:spPr>
          <a:xfrm>
            <a:off x="10876788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Oval 462"/>
          <p:cNvSpPr/>
          <p:nvPr/>
        </p:nvSpPr>
        <p:spPr>
          <a:xfrm>
            <a:off x="10977372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4" name="Oval 463"/>
          <p:cNvSpPr/>
          <p:nvPr/>
        </p:nvSpPr>
        <p:spPr>
          <a:xfrm>
            <a:off x="11077956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5" name="Oval 464"/>
          <p:cNvSpPr/>
          <p:nvPr/>
        </p:nvSpPr>
        <p:spPr>
          <a:xfrm>
            <a:off x="11178540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6" name="Oval 465"/>
          <p:cNvSpPr/>
          <p:nvPr/>
        </p:nvSpPr>
        <p:spPr>
          <a:xfrm>
            <a:off x="11279124" y="3090672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7" name="Oval 466"/>
          <p:cNvSpPr/>
          <p:nvPr/>
        </p:nvSpPr>
        <p:spPr>
          <a:xfrm>
            <a:off x="11233404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8" name="Oval 467"/>
          <p:cNvSpPr/>
          <p:nvPr/>
        </p:nvSpPr>
        <p:spPr>
          <a:xfrm>
            <a:off x="11333988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9" name="Oval 468"/>
          <p:cNvSpPr/>
          <p:nvPr/>
        </p:nvSpPr>
        <p:spPr>
          <a:xfrm>
            <a:off x="11434572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0" name="Oval 469"/>
          <p:cNvSpPr/>
          <p:nvPr/>
        </p:nvSpPr>
        <p:spPr>
          <a:xfrm>
            <a:off x="11535156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470"/>
          <p:cNvSpPr/>
          <p:nvPr/>
        </p:nvSpPr>
        <p:spPr>
          <a:xfrm>
            <a:off x="11635740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471"/>
          <p:cNvSpPr/>
          <p:nvPr/>
        </p:nvSpPr>
        <p:spPr>
          <a:xfrm>
            <a:off x="11736324" y="3849624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472"/>
          <p:cNvSpPr/>
          <p:nvPr/>
        </p:nvSpPr>
        <p:spPr>
          <a:xfrm>
            <a:off x="11210544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473"/>
          <p:cNvSpPr/>
          <p:nvPr/>
        </p:nvSpPr>
        <p:spPr>
          <a:xfrm>
            <a:off x="11311128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474"/>
          <p:cNvSpPr/>
          <p:nvPr/>
        </p:nvSpPr>
        <p:spPr>
          <a:xfrm>
            <a:off x="11411712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475"/>
          <p:cNvSpPr/>
          <p:nvPr/>
        </p:nvSpPr>
        <p:spPr>
          <a:xfrm>
            <a:off x="11512296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476"/>
          <p:cNvSpPr/>
          <p:nvPr/>
        </p:nvSpPr>
        <p:spPr>
          <a:xfrm>
            <a:off x="11612880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477"/>
          <p:cNvSpPr/>
          <p:nvPr/>
        </p:nvSpPr>
        <p:spPr>
          <a:xfrm>
            <a:off x="11713464" y="3950207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478"/>
          <p:cNvSpPr/>
          <p:nvPr/>
        </p:nvSpPr>
        <p:spPr>
          <a:xfrm>
            <a:off x="11132820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479"/>
          <p:cNvSpPr/>
          <p:nvPr/>
        </p:nvSpPr>
        <p:spPr>
          <a:xfrm>
            <a:off x="11233404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480"/>
          <p:cNvSpPr/>
          <p:nvPr/>
        </p:nvSpPr>
        <p:spPr>
          <a:xfrm>
            <a:off x="11333988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481"/>
          <p:cNvSpPr/>
          <p:nvPr/>
        </p:nvSpPr>
        <p:spPr>
          <a:xfrm>
            <a:off x="11434572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482"/>
          <p:cNvSpPr/>
          <p:nvPr/>
        </p:nvSpPr>
        <p:spPr>
          <a:xfrm>
            <a:off x="11535156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Oval 483"/>
          <p:cNvSpPr/>
          <p:nvPr/>
        </p:nvSpPr>
        <p:spPr>
          <a:xfrm>
            <a:off x="11635740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484"/>
          <p:cNvSpPr/>
          <p:nvPr/>
        </p:nvSpPr>
        <p:spPr>
          <a:xfrm>
            <a:off x="11736324" y="4050791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485"/>
          <p:cNvSpPr/>
          <p:nvPr/>
        </p:nvSpPr>
        <p:spPr>
          <a:xfrm>
            <a:off x="11210544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486"/>
          <p:cNvSpPr/>
          <p:nvPr/>
        </p:nvSpPr>
        <p:spPr>
          <a:xfrm>
            <a:off x="11311128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8" name="Oval 487"/>
          <p:cNvSpPr/>
          <p:nvPr/>
        </p:nvSpPr>
        <p:spPr>
          <a:xfrm>
            <a:off x="11411712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9" name="Oval 488"/>
          <p:cNvSpPr/>
          <p:nvPr/>
        </p:nvSpPr>
        <p:spPr>
          <a:xfrm>
            <a:off x="11512296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0" name="Oval 489"/>
          <p:cNvSpPr/>
          <p:nvPr/>
        </p:nvSpPr>
        <p:spPr>
          <a:xfrm>
            <a:off x="11612880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1" name="Oval 490"/>
          <p:cNvSpPr/>
          <p:nvPr/>
        </p:nvSpPr>
        <p:spPr>
          <a:xfrm>
            <a:off x="11713464" y="4151376"/>
            <a:ext cx="41148" cy="41148"/>
          </a:xfrm>
          <a:prstGeom prst="ellipse">
            <a:avLst/>
          </a:prstGeom>
          <a:solidFill>
            <a:srgbClr val="F5D7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2" name="Oval 491"/>
          <p:cNvSpPr/>
          <p:nvPr/>
        </p:nvSpPr>
        <p:spPr>
          <a:xfrm>
            <a:off x="7973568" y="224028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Oval 492"/>
          <p:cNvSpPr/>
          <p:nvPr/>
        </p:nvSpPr>
        <p:spPr>
          <a:xfrm>
            <a:off x="8060436" y="232714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Isosceles Triangle 493"/>
          <p:cNvSpPr/>
          <p:nvPr/>
        </p:nvSpPr>
        <p:spPr>
          <a:xfrm rot="10800000">
            <a:off x="8028432" y="242316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5" name="Oval 494"/>
          <p:cNvSpPr/>
          <p:nvPr/>
        </p:nvSpPr>
        <p:spPr>
          <a:xfrm>
            <a:off x="9966960" y="214884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/>
          <p:cNvSpPr/>
          <p:nvPr/>
        </p:nvSpPr>
        <p:spPr>
          <a:xfrm>
            <a:off x="10053828" y="223570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Isosceles Triangle 496"/>
          <p:cNvSpPr/>
          <p:nvPr/>
        </p:nvSpPr>
        <p:spPr>
          <a:xfrm rot="10800000">
            <a:off x="10021824" y="233172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/>
          <p:cNvSpPr/>
          <p:nvPr/>
        </p:nvSpPr>
        <p:spPr>
          <a:xfrm>
            <a:off x="10835640" y="274320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Oval 498"/>
          <p:cNvSpPr/>
          <p:nvPr/>
        </p:nvSpPr>
        <p:spPr>
          <a:xfrm>
            <a:off x="10922508" y="283006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0" name="Isosceles Triangle 499"/>
          <p:cNvSpPr/>
          <p:nvPr/>
        </p:nvSpPr>
        <p:spPr>
          <a:xfrm rot="10800000">
            <a:off x="10890504" y="292608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500"/>
          <p:cNvSpPr/>
          <p:nvPr/>
        </p:nvSpPr>
        <p:spPr>
          <a:xfrm>
            <a:off x="11475720" y="3794760"/>
            <a:ext cx="256032" cy="256032"/>
          </a:xfrm>
          <a:prstGeom prst="ellips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501"/>
          <p:cNvSpPr/>
          <p:nvPr/>
        </p:nvSpPr>
        <p:spPr>
          <a:xfrm>
            <a:off x="11562588" y="3881628"/>
            <a:ext cx="82296" cy="822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Isosceles Triangle 502"/>
          <p:cNvSpPr/>
          <p:nvPr/>
        </p:nvSpPr>
        <p:spPr>
          <a:xfrm rot="10800000">
            <a:off x="11530584" y="3977640"/>
            <a:ext cx="146304" cy="164592"/>
          </a:xfrm>
          <a:prstGeom prst="triangle">
            <a:avLst/>
          </a:prstGeom>
          <a:solidFill>
            <a:srgbClr val="F55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TextBox 505"/>
          <p:cNvSpPr txBox="1"/>
          <p:nvPr/>
        </p:nvSpPr>
        <p:spPr>
          <a:xfrm>
            <a:off x="9761220" y="5084064"/>
            <a:ext cx="1554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B4202D"/>
                </a:solidFill>
                <a:latin typeface="Arial"/>
              </a:defRPr>
            </a:pPr>
            <a:r>
              <a:rPr dirty="0" err="1"/>
              <a:t>zomato</a:t>
            </a:r>
            <a:endParaRPr dirty="0"/>
          </a:p>
        </p:txBody>
      </p:sp>
      <p:sp>
        <p:nvSpPr>
          <p:cNvPr id="507" name="TextBox 506"/>
          <p:cNvSpPr txBox="1"/>
          <p:nvPr/>
        </p:nvSpPr>
        <p:spPr>
          <a:xfrm>
            <a:off x="9630011" y="5509260"/>
            <a:ext cx="1737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232730"/>
                </a:solidFill>
                <a:latin typeface="Aptos"/>
              </a:defRPr>
            </a:pPr>
            <a:r>
              <a:rPr dirty="0"/>
              <a:t>better food for more people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315496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PROBLEM STATEMENT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06776" y="1060704"/>
            <a:ext cx="5577840" cy="395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I started with one simple question: What does the current restaurant landscape tell us?</a:t>
            </a:r>
            <a:endParaRPr lang="en-IN" dirty="0"/>
          </a:p>
          <a:p>
            <a:r>
              <a:rPr lang="en-IN" dirty="0"/>
              <a:t>I explored </a:t>
            </a:r>
            <a:r>
              <a:rPr lang="en-IN" b="1" dirty="0"/>
              <a:t>where restaurants are concentrated, how the industry has evolved, and where customer response is strongest.</a:t>
            </a:r>
            <a:endParaRPr lang="en-IN" dirty="0"/>
          </a:p>
          <a:p>
            <a:r>
              <a:rPr lang="en-IN" dirty="0"/>
              <a:t>From there, I identified </a:t>
            </a:r>
            <a:r>
              <a:rPr lang="en-IN" b="1" dirty="0"/>
              <a:t>less-saturated markets with growth potential</a:t>
            </a:r>
            <a:r>
              <a:rPr lang="en-IN" dirty="0"/>
              <a:t>, while </a:t>
            </a:r>
            <a:r>
              <a:rPr lang="en-IN" dirty="0" err="1"/>
              <a:t>analyzing</a:t>
            </a:r>
            <a:r>
              <a:rPr lang="en-IN" dirty="0"/>
              <a:t> </a:t>
            </a:r>
            <a:r>
              <a:rPr lang="en-IN" b="1" dirty="0"/>
              <a:t>pricing, cuisine trends, and customer preferences.</a:t>
            </a:r>
            <a:endParaRPr lang="en-IN" dirty="0"/>
          </a:p>
          <a:p>
            <a:r>
              <a:rPr lang="en-IN" dirty="0"/>
              <a:t>I also examined </a:t>
            </a:r>
            <a:r>
              <a:rPr lang="en-IN" b="1" dirty="0"/>
              <a:t>how online delivery and table booking influence restaurant performance.</a:t>
            </a:r>
            <a:endParaRPr lang="en-IN" dirty="0"/>
          </a:p>
          <a:p>
            <a:r>
              <a:rPr lang="en-IN" b="1" dirty="0"/>
              <a:t>Finally, I brought these insights together to develop practical recommendations for expansion, pricing, cuisine selection, and service strategy.</a:t>
            </a:r>
            <a:endParaRPr lang="en-IN" dirty="0"/>
          </a:p>
          <a:p>
            <a:pPr>
              <a:spcAft>
                <a:spcPts val="900"/>
              </a:spcAft>
              <a:defRPr sz="17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6720840" y="123444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720840" y="1234440"/>
            <a:ext cx="54864" cy="141732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22007" y="13716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RESTAURANTS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7" y="1673352"/>
            <a:ext cx="1783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9,551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216712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Dataset records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123444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098280" y="1234440"/>
            <a:ext cx="54864" cy="141732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299448" y="137160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COUNTRIES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1673352"/>
            <a:ext cx="530915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181E2D"/>
                </a:solidFill>
                <a:latin typeface="Aptos Display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9448" y="216712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Markets represented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292608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20840" y="2926080"/>
            <a:ext cx="54864" cy="141732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22007" y="306324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OVERALL RATING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3364992"/>
            <a:ext cx="17830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2.89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7" y="385876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Average across dataset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2926080"/>
            <a:ext cx="214884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098280" y="2926080"/>
            <a:ext cx="54864" cy="141732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3063240"/>
            <a:ext cx="1783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VOTES / RESTAURANT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9448" y="3364992"/>
            <a:ext cx="704039" cy="4770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 dirty="0">
                <a:solidFill>
                  <a:srgbClr val="181E2D"/>
                </a:solidFill>
                <a:latin typeface="Aptos Display"/>
              </a:rPr>
              <a:t>15</a:t>
            </a:r>
            <a:r>
              <a:rPr lang="en-US" sz="2500" b="1" dirty="0">
                <a:solidFill>
                  <a:srgbClr val="181E2D"/>
                </a:solidFill>
                <a:latin typeface="Aptos Display"/>
              </a:rPr>
              <a:t>7</a:t>
            </a:r>
            <a:endParaRPr sz="2500" b="1" dirty="0">
              <a:solidFill>
                <a:srgbClr val="181E2D"/>
              </a:solidFill>
              <a:latin typeface="Aptos Display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299448" y="3858768"/>
            <a:ext cx="1783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Average votes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9536" y="4822460"/>
            <a:ext cx="3311101" cy="73152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9796" y="4815316"/>
            <a:ext cx="309976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Core decision lens: growth potential + customer response + cost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24139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>
                <a:solidFill>
                  <a:srgbClr val="181E2D"/>
                </a:solidFill>
                <a:latin typeface="Aptos Display"/>
              </a:rPr>
              <a:t>DATA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54864" cy="128016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9,551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Restaurant-level observations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91840" y="1143000"/>
            <a:ext cx="54864" cy="128016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93008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KEY FIELDS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17+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Country, city, cuisine, price, rating, votes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0" y="1143000"/>
            <a:ext cx="54864" cy="128016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TIME SPAN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44768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2010–2018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Opening-year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95360" y="1143000"/>
            <a:ext cx="2423160" cy="128016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595360" y="1143000"/>
            <a:ext cx="54864" cy="128016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96528" y="128016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SERVICES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96528" y="158191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96528" y="2075688"/>
            <a:ext cx="2057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Table booking + online delivery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2880360"/>
            <a:ext cx="1950720" cy="393192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6123" y="2916936"/>
            <a:ext cx="179863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E62D50"/>
                </a:solidFill>
                <a:latin typeface="Aptos"/>
              </a:rPr>
              <a:t>DATA PREPARATION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337560"/>
            <a:ext cx="1014984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Before looking for insights, I first made sure the data was ready to tell the right story.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standardized country, city, and categorical fields</a:t>
            </a:r>
            <a:r>
              <a:rPr lang="en-IN" dirty="0"/>
              <a:t> for consistent analysis.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extracted the opening year</a:t>
            </a:r>
            <a:r>
              <a:rPr lang="en-IN" dirty="0"/>
              <a:t> to understand how the restaurant landscape evolved.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normalized cost and currency fields</a:t>
            </a:r>
            <a:r>
              <a:rPr lang="en-IN" dirty="0"/>
              <a:t> and reviewed missing or zero values.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 </a:t>
            </a:r>
            <a:r>
              <a:rPr lang="en-IN" b="1" dirty="0"/>
              <a:t>created rating quality bands</a:t>
            </a:r>
            <a:r>
              <a:rPr lang="en-IN" dirty="0"/>
              <a:t> to make customer feedback easier to interpret. </a:t>
            </a:r>
          </a:p>
          <a:p>
            <a:pPr lvl="0"/>
            <a:r>
              <a:rPr lang="en-IN" dirty="0"/>
              <a:t>Finally, I </a:t>
            </a:r>
            <a:r>
              <a:rPr lang="en-IN" b="1" dirty="0"/>
              <a:t>built pivot-style summaries</a:t>
            </a:r>
            <a:r>
              <a:rPr lang="en-IN" dirty="0"/>
              <a:t> across country, year, price range, cuisine, and service adoption to uncover key patterns.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407720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>
                <a:solidFill>
                  <a:srgbClr val="181E2D"/>
                </a:solidFill>
                <a:latin typeface="Aptos Display"/>
              </a:rPr>
              <a:t>ANALYTICAL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01168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258567"/>
            <a:ext cx="125273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Standardize text, dates, categories and numeric fields.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39" y="2441448"/>
            <a:ext cx="246889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80360" y="1325880"/>
            <a:ext cx="54864" cy="201168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8152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81528" y="2258567"/>
            <a:ext cx="151790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Measure restaurant counts, ratings, votes and costs.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46320" y="2331720"/>
            <a:ext cx="246888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2064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20640" y="1325880"/>
            <a:ext cx="54864" cy="201168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2180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COMPARE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2180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2258567"/>
            <a:ext cx="151790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Benchmark countries, price bands, cuisines and services</a:t>
            </a:r>
            <a:r>
              <a:rPr sz="900" dirty="0">
                <a:solidFill>
                  <a:srgbClr val="707684"/>
                </a:solidFill>
                <a:latin typeface="Aptos"/>
              </a:rPr>
              <a:t>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86600" y="2331720"/>
            <a:ext cx="246888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6092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60920" y="1325880"/>
            <a:ext cx="54864" cy="201168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6208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PRIORITIZE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6208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62088" y="2258567"/>
            <a:ext cx="150876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Screen lower-competition markets using scale + rating signals.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326880" y="2331720"/>
            <a:ext cx="246888" cy="0"/>
          </a:xfrm>
          <a:prstGeom prst="line">
            <a:avLst/>
          </a:prstGeom>
          <a:ln>
            <a:solidFill>
              <a:srgbClr val="DEE1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601200" y="1325880"/>
            <a:ext cx="19659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601200" y="1325880"/>
            <a:ext cx="54864" cy="2011680"/>
          </a:xfrm>
          <a:prstGeom prst="rect">
            <a:avLst/>
          </a:prstGeom>
          <a:solidFill>
            <a:srgbClr val="FF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02368" y="1463039"/>
            <a:ext cx="1600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RECOMMEND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1764792"/>
            <a:ext cx="1600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2258567"/>
            <a:ext cx="140817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latin typeface="Aptos"/>
              </a:rPr>
              <a:t>Convert patterns into expansion and operating actions.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79" y="3771899"/>
            <a:ext cx="2011513" cy="434341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4526" y="3803898"/>
            <a:ext cx="201151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E62D50"/>
                </a:solidFill>
                <a:latin typeface="Aptos"/>
              </a:rPr>
              <a:t>ANALYTICAL TOOLS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5123" y="4320878"/>
            <a:ext cx="10241280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Once the data was ready, I focused on turning it into meaningful insights.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 used </a:t>
            </a:r>
            <a:r>
              <a:rPr lang="en-IN" b="1" dirty="0"/>
              <a:t>pivot tables and conditional aggregation</a:t>
            </a:r>
            <a:r>
              <a:rPr lang="en-IN" dirty="0"/>
              <a:t> to compare markets and uncover key patterns.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 applied </a:t>
            </a:r>
            <a:r>
              <a:rPr lang="en-IN" b="1" dirty="0"/>
              <a:t>AVERAGE and SUMPRODUCT-based calculations</a:t>
            </a:r>
            <a:r>
              <a:rPr lang="en-IN" dirty="0"/>
              <a:t> to derive targeted measures.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I used </a:t>
            </a:r>
            <a:r>
              <a:rPr lang="en-IN" b="1" dirty="0"/>
              <a:t>charts to bring concentration, trends, and rating differences into focus.</a:t>
            </a:r>
            <a:endParaRPr lang="en-IN" dirty="0"/>
          </a:p>
          <a:p>
            <a:r>
              <a:rPr lang="en-IN" dirty="0"/>
              <a:t>Finally, I used </a:t>
            </a:r>
            <a:r>
              <a:rPr lang="en-IN" b="1" dirty="0"/>
              <a:t>conditional formatting to highlight restaurants in promising markets.</a:t>
            </a:r>
            <a:endParaRPr lang="en-IN" dirty="0"/>
          </a:p>
          <a:p>
            <a:pPr>
              <a:spcAft>
                <a:spcPts val="900"/>
              </a:spcAft>
              <a:defRPr sz="16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17252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69442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latin typeface="Aptos Display" panose="020B0004020202020204" pitchFamily="34" charset="0"/>
              </a:rPr>
              <a:t>UNDERSTANDING THE RESTAURANT LANDSCAPE</a:t>
            </a:r>
            <a:endParaRPr lang="en-IN" sz="2400"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588887" y="832930"/>
            <a:ext cx="3639312" cy="713232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30619" y="903064"/>
            <a:ext cx="335584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India accounts for 8,652 restaurants—far ahead of every other market.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85804" y="1841496"/>
            <a:ext cx="4327873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The First Insight…</a:t>
            </a:r>
          </a:p>
          <a:p>
            <a:r>
              <a:rPr lang="en-IN" b="1" dirty="0"/>
              <a:t>As I explored the data, one important pattern quickly stood out: India dominates the dataset.</a:t>
            </a:r>
            <a:endParaRPr lang="en-IN" dirty="0"/>
          </a:p>
          <a:p>
            <a:r>
              <a:rPr lang="en-IN" dirty="0"/>
              <a:t>This means </a:t>
            </a:r>
            <a:r>
              <a:rPr lang="en-IN" b="1" dirty="0"/>
              <a:t>restaurant counts alone cannot tell us which markets are truly attractive.</a:t>
            </a:r>
            <a:endParaRPr lang="en-IN" dirty="0"/>
          </a:p>
          <a:p>
            <a:r>
              <a:rPr lang="en-IN" dirty="0"/>
              <a:t>So, I looked beyond market size and considered </a:t>
            </a:r>
            <a:r>
              <a:rPr lang="en-IN" b="1" dirty="0"/>
              <a:t>both competition and customer response</a:t>
            </a:r>
            <a:r>
              <a:rPr lang="en-IN" dirty="0"/>
              <a:t>, especially in smaller markets.</a:t>
            </a:r>
          </a:p>
          <a:p>
            <a:r>
              <a:rPr lang="en-IN" b="1" dirty="0"/>
              <a:t>This highlighted an opportunity to screen international markets for more sustainable expansion.</a:t>
            </a:r>
            <a:endParaRPr lang="en-IN" dirty="0"/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9ED2206-86B6-4AAD-A719-68EE94E8D9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8738544"/>
              </p:ext>
            </p:extLst>
          </p:nvPr>
        </p:nvGraphicFramePr>
        <p:xfrm>
          <a:off x="422694" y="1319842"/>
          <a:ext cx="6202393" cy="42593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6ECA30B2-166C-7693-65FA-6032A1F63292}"/>
              </a:ext>
            </a:extLst>
          </p:cNvPr>
          <p:cNvSpPr/>
          <p:nvPr/>
        </p:nvSpPr>
        <p:spPr>
          <a:xfrm>
            <a:off x="2398144" y="1433826"/>
            <a:ext cx="2846718" cy="4076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IN" sz="1600" b="1" i="0" dirty="0">
                <a:solidFill>
                  <a:schemeClr val="tx1"/>
                </a:solidFill>
                <a:latin typeface="Aptos" panose="020B0004020202020204" pitchFamily="34" charset="0"/>
              </a:rPr>
              <a:t>RESTAURANTS BY COUNTRY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42466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RESTAURANT OPENINGS REMAINED BROADLY STABLE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306119"/>
              </p:ext>
            </p:extLst>
          </p:nvPr>
        </p:nvGraphicFramePr>
        <p:xfrm>
          <a:off x="685800" y="1143000"/>
          <a:ext cx="65836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393936" y="625933"/>
            <a:ext cx="2112264" cy="68580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439655" y="718293"/>
            <a:ext cx="20208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Peak: 1,102 openings in 2018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39655" y="1441915"/>
            <a:ext cx="2112264" cy="68580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60224" y="1484617"/>
            <a:ext cx="17373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Low: 1,022 openings in 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9070" y="2208228"/>
            <a:ext cx="4221481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A Steady Market…</a:t>
            </a:r>
          </a:p>
          <a:p>
            <a:r>
              <a:rPr lang="en-IN" b="1" dirty="0"/>
              <a:t>Looking at restaurant openings over time, I found that the market remained relatively stable.</a:t>
            </a:r>
            <a:endParaRPr lang="en-IN" dirty="0"/>
          </a:p>
          <a:p>
            <a:pPr lvl="0"/>
            <a:r>
              <a:rPr lang="en-IN" dirty="0"/>
              <a:t>Openings </a:t>
            </a:r>
            <a:r>
              <a:rPr lang="en-IN" b="1" dirty="0"/>
              <a:t>fluctuated within a relatively narrow range</a:t>
            </a:r>
            <a:r>
              <a:rPr lang="en-IN" dirty="0"/>
              <a:t>.</a:t>
            </a:r>
          </a:p>
          <a:p>
            <a:pPr lvl="0"/>
            <a:r>
              <a:rPr lang="en-IN" dirty="0"/>
              <a:t>There was </a:t>
            </a:r>
            <a:r>
              <a:rPr lang="en-IN" b="1" dirty="0"/>
              <a:t>no sustained collapse in restaurant openings</a:t>
            </a:r>
            <a:r>
              <a:rPr lang="en-IN" dirty="0"/>
              <a:t>, indicating continued market activity.</a:t>
            </a:r>
          </a:p>
          <a:p>
            <a:pPr lvl="0"/>
            <a:r>
              <a:rPr lang="en-IN" b="1" dirty="0"/>
              <a:t>2018 recorded the highest annual count</a:t>
            </a:r>
            <a:r>
              <a:rPr lang="en-IN" dirty="0"/>
              <a:t>, suggesting that market activity remained strong toward the end of the period.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15779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INDIA SHOWS A LARGE AFFORDABLE-MARKET 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329347"/>
              </p:ext>
            </p:extLst>
          </p:nvPr>
        </p:nvGraphicFramePr>
        <p:xfrm>
          <a:off x="617220" y="1188720"/>
          <a:ext cx="64008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7981" y="738164"/>
            <a:ext cx="3703320" cy="502920"/>
          </a:xfrm>
          <a:prstGeom prst="roundRect">
            <a:avLst/>
          </a:prstGeom>
          <a:solidFill>
            <a:srgbClr val="FBF2F5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7981" y="844480"/>
            <a:ext cx="3710375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388 restaurants in India are in Price Range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1291" y="1436554"/>
            <a:ext cx="4243766" cy="420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When I looked at the price segments, one clear pattern stood out: most restaurants operate in the lower-to-mid price ranges.</a:t>
            </a:r>
            <a:endParaRPr lang="en-IN" dirty="0"/>
          </a:p>
          <a:p>
            <a:pPr lvl="0"/>
            <a:r>
              <a:rPr lang="en-IN" b="1" dirty="0"/>
              <a:t>Price Range 1 dominates</a:t>
            </a:r>
            <a:r>
              <a:rPr lang="en-IN" dirty="0"/>
              <a:t> with 4,295 restaurants.</a:t>
            </a:r>
          </a:p>
          <a:p>
            <a:pPr lvl="0"/>
            <a:r>
              <a:rPr lang="en-IN" b="1" dirty="0"/>
              <a:t>Price Range 2 adds another 2,858 restaurants</a:t>
            </a:r>
            <a:r>
              <a:rPr lang="en-IN" dirty="0"/>
              <a:t>, making these the core market segments.</a:t>
            </a:r>
          </a:p>
          <a:p>
            <a:pPr lvl="0"/>
            <a:r>
              <a:rPr lang="en-IN" b="1" dirty="0"/>
              <a:t>Premium Range 4 is much smaller</a:t>
            </a:r>
            <a:r>
              <a:rPr lang="en-IN" dirty="0"/>
              <a:t>, indicating a more selective premium segment.</a:t>
            </a:r>
          </a:p>
          <a:p>
            <a:pPr lvl="0"/>
            <a:r>
              <a:rPr lang="en-IN" dirty="0"/>
              <a:t>Interestingly, </a:t>
            </a:r>
            <a:r>
              <a:rPr lang="en-IN" b="1" dirty="0"/>
              <a:t>average ratings rise with price range</a:t>
            </a:r>
            <a:r>
              <a:rPr lang="en-IN" dirty="0"/>
              <a:t>, suggesting a potential </a:t>
            </a:r>
            <a:r>
              <a:rPr lang="en-IN" b="1" dirty="0"/>
              <a:t>premium-quality opportunity</a:t>
            </a:r>
            <a:r>
              <a:rPr lang="en-IN" dirty="0"/>
              <a:t>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7656263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CUSTOMER ENGAGEMENT VARIES SHARPLY BY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060771"/>
              </p:ext>
            </p:extLst>
          </p:nvPr>
        </p:nvGraphicFramePr>
        <p:xfrm>
          <a:off x="640080" y="1143000"/>
          <a:ext cx="6400800" cy="4709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1325880"/>
            <a:ext cx="3329796" cy="667512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79" y="1417320"/>
            <a:ext cx="30449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Indonesia leads this comparison at ~772 average votes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1"/>
            <a:ext cx="434340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Next, I looked at votes as an indicator of customer engagement across markets.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Votes provide a useful proxy for engagement</a:t>
            </a:r>
            <a:r>
              <a:rPr lang="en-IN" dirty="0"/>
              <a:t>, but I considered them alongside overall market size.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Singapore recorded the lowest average votes</a:t>
            </a:r>
            <a:r>
              <a:rPr lang="en-IN" dirty="0"/>
              <a:t> among the markets compared.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Higher engagement can help validate demand</a:t>
            </a:r>
            <a:r>
              <a:rPr lang="en-IN" dirty="0"/>
              <a:t>, while </a:t>
            </a:r>
            <a:r>
              <a:rPr lang="en-IN" b="1" dirty="0"/>
              <a:t>lower competition can create better entry economics</a:t>
            </a:r>
            <a:r>
              <a:rPr lang="en-IN" dirty="0"/>
              <a:t>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99613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 Display" panose="020B0004020202020204" pitchFamily="34" charset="0"/>
              </a:rPr>
              <a:t>LOOKING BEYOND SCALE: SMALLER MARKETS WITH STRONGER RATINGS</a:t>
            </a:r>
            <a:endParaRPr lang="en-US" sz="2400"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4864" cy="160020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137160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PHILIPPINES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67335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167128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38988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22 restaurants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234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89120" y="1234440"/>
            <a:ext cx="54864" cy="1600200"/>
          </a:xfrm>
          <a:prstGeom prst="rect">
            <a:avLst/>
          </a:prstGeom>
          <a:solidFill>
            <a:srgbClr val="3D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0288" y="137160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INDONESIA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67335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167128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38988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21 restaurants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23444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92440" y="1234440"/>
            <a:ext cx="54864" cy="1600200"/>
          </a:xfrm>
          <a:prstGeom prst="rect">
            <a:avLst/>
          </a:prstGeom>
          <a:solidFill>
            <a:srgbClr val="23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93608" y="137160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TURKEY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167335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2167128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138988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34 restaurants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20040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85800" y="3200400"/>
            <a:ext cx="54864" cy="1600200"/>
          </a:xfrm>
          <a:prstGeom prst="rect">
            <a:avLst/>
          </a:prstGeom>
          <a:solidFill>
            <a:srgbClr val="E6A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6968" y="333756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NEW ZEALAND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3931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4133087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335584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40 restaurants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320040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389120" y="3200400"/>
            <a:ext cx="54864" cy="1600200"/>
          </a:xfrm>
          <a:prstGeom prst="rect">
            <a:avLst/>
          </a:prstGeom>
          <a:solidFill>
            <a:srgbClr val="FF5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90288" y="333756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UAE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63931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133087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335584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60 restaurants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92440" y="3200400"/>
            <a:ext cx="333756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EE1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092440" y="3200400"/>
            <a:ext cx="54864" cy="1600200"/>
          </a:xfrm>
          <a:prstGeom prst="rect">
            <a:avLst/>
          </a:prstGeom>
          <a:solidFill>
            <a:srgbClr val="E6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93608" y="3337560"/>
            <a:ext cx="2971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707684"/>
                </a:solidFill>
                <a:latin typeface="Aptos"/>
              </a:rPr>
              <a:t>SOUTH AFRICA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93608" y="3639312"/>
            <a:ext cx="2971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500" b="1">
                <a:solidFill>
                  <a:srgbClr val="181E2D"/>
                </a:solidFill>
                <a:latin typeface="Aptos Display"/>
              </a:rPr>
              <a:t>4.21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93608" y="4133087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707684"/>
                </a:solidFill>
                <a:latin typeface="Aptos"/>
              </a:rPr>
              <a:t>Avg rating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355848"/>
            <a:ext cx="1051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707684"/>
                </a:solidFill>
                <a:latin typeface="Aptos"/>
              </a:rPr>
              <a:t>60 restaurants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59708" y="5326380"/>
            <a:ext cx="7089067" cy="59436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191110" y="5438894"/>
            <a:ext cx="688226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1600" b="1" dirty="0">
                <a:latin typeface="Aptos" panose="020B0004020202020204" pitchFamily="34" charset="0"/>
              </a:rPr>
              <a:t>Recommended core markets: Canada • Singapore • Sri Lanka • Australia</a:t>
            </a:r>
            <a:endParaRPr sz="1600" b="1" dirty="0">
              <a:solidFill>
                <a:srgbClr val="181E2D"/>
              </a:solidFill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160573"/>
            <a:ext cx="10098405" cy="461665"/>
          </a:xfrm>
          <a:prstGeom prst="rect">
            <a:avLst/>
          </a:prstGeom>
          <a:solidFill>
            <a:srgbClr val="FCF6F5"/>
          </a:solidFill>
        </p:spPr>
        <p:txBody>
          <a:bodyPr wrap="square">
            <a:spAutoFit/>
          </a:bodyPr>
          <a:lstStyle/>
          <a:p>
            <a:r>
              <a:rPr lang="en-US" sz="2400" b="1" dirty="0">
                <a:latin typeface="Aptos Display" panose="020B0004020202020204" pitchFamily="34" charset="0"/>
              </a:rPr>
              <a:t>TARGET CITIES REVEAL SPECIFIC LOW-COMPETITION OPPORTUNITIES</a:t>
            </a:r>
            <a:endParaRPr lang="en-US" sz="2400"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85800" y="1143000"/>
            <a:ext cx="1417320" cy="356842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5477" y="1152144"/>
            <a:ext cx="997967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CANADA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068957"/>
            <a:ext cx="543854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Chatham-Kent • Consort • Vineland Station • Yorkton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92807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85800" y="2331720"/>
            <a:ext cx="1417320" cy="27432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0554" y="2331720"/>
            <a:ext cx="1311706" cy="33855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SINGAPORE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2313432"/>
            <a:ext cx="399141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Bukit Timah • Singapore River • Tanglin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081527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85800" y="3520440"/>
            <a:ext cx="1417320" cy="41348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5712" y="3540511"/>
            <a:ext cx="118045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SRI LANKA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557016"/>
            <a:ext cx="455470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Colombo • Colombo 01 • Colombo 02 • Fort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270248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85800" y="4690646"/>
            <a:ext cx="1417320" cy="357068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82497" y="4718304"/>
            <a:ext cx="122392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AUSTRALIA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4690872"/>
            <a:ext cx="74132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>
                <a:solidFill>
                  <a:srgbClr val="232732"/>
                </a:solidFill>
                <a:latin typeface="Aptos"/>
              </a:rPr>
              <a:t>Armidale • Balingup • Beechworth • Palm Cove • Tanunda • Victor Harbor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458968"/>
            <a:ext cx="10332720" cy="9144"/>
          </a:xfrm>
          <a:prstGeom prst="rect">
            <a:avLst/>
          </a:prstGeom>
          <a:solidFill>
            <a:srgbClr val="DEE1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0331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solidFill>
                  <a:srgbClr val="181E2D"/>
                </a:solidFill>
                <a:latin typeface="Aptos Display"/>
              </a:rPr>
              <a:t>RECOMMENDED MARKETS ALREADY SHOW GOOD RESTAURANT QUALITY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Char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7599378"/>
              </p:ext>
            </p:extLst>
          </p:nvPr>
        </p:nvGraphicFramePr>
        <p:xfrm>
          <a:off x="640080" y="1188720"/>
          <a:ext cx="59436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95159" y="1325880"/>
            <a:ext cx="4427183" cy="50292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78040" y="1417320"/>
            <a:ext cx="4244303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Overall average across the four core markets: 3.69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59" y="2423160"/>
            <a:ext cx="4331323" cy="3370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Quality is validated across all four markets, with room for selective growth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Sri Lanka</a:t>
            </a:r>
            <a:r>
              <a:rPr lang="en-IN" dirty="0"/>
              <a:t> records the highest average rating at </a:t>
            </a:r>
            <a:r>
              <a:rPr lang="en-IN" b="1" dirty="0"/>
              <a:t>3.87</a:t>
            </a:r>
            <a:r>
              <a:rPr lang="en-IN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Australia</a:t>
            </a:r>
            <a:r>
              <a:rPr lang="en-IN" dirty="0"/>
              <a:t> follows at </a:t>
            </a:r>
            <a:r>
              <a:rPr lang="en-IN" b="1" dirty="0"/>
              <a:t>3.66</a:t>
            </a:r>
            <a:r>
              <a:rPr lang="en-IN" dirty="0"/>
              <a:t>, while </a:t>
            </a:r>
            <a:r>
              <a:rPr lang="en-IN" b="1" dirty="0"/>
              <a:t>Canada and Singapore</a:t>
            </a:r>
            <a:r>
              <a:rPr lang="en-IN" dirty="0"/>
              <a:t> stand at </a:t>
            </a:r>
            <a:r>
              <a:rPr lang="en-IN" b="1" dirty="0"/>
              <a:t>3.58</a:t>
            </a:r>
            <a:r>
              <a:rPr lang="en-IN" dirty="0"/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All four markets are classified as </a:t>
            </a:r>
            <a:r>
              <a:rPr lang="en-IN" b="1" dirty="0"/>
              <a:t>Good</a:t>
            </a:r>
            <a:r>
              <a:rPr lang="en-IN" dirty="0"/>
              <a:t> under the project’s Quality framework.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Market entry should be focused on areas where quality is established and saturation remains manageable.</a:t>
            </a:r>
            <a:endParaRPr lang="en-IN" dirty="0"/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586809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>
                <a:latin typeface="Aptos" panose="020B0004020202020204" pitchFamily="34" charset="0"/>
              </a:rPr>
              <a:t>STRONG RESTAURANT QUALITY EXTENDS BEYOND THE LARGEST MARKETS</a:t>
            </a:r>
            <a:endParaRPr lang="en-US" sz="2400" b="1" dirty="0">
              <a:solidFill>
                <a:srgbClr val="181E2D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545E9574-DE64-439B-85A2-6A70023F3A3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0511794"/>
              </p:ext>
            </p:extLst>
          </p:nvPr>
        </p:nvGraphicFramePr>
        <p:xfrm>
          <a:off x="282336" y="1147745"/>
          <a:ext cx="6423264" cy="43009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7FBA483-41F6-EABF-C9DB-089AF00CAC37}"/>
              </a:ext>
            </a:extLst>
          </p:cNvPr>
          <p:cNvSpPr txBox="1"/>
          <p:nvPr/>
        </p:nvSpPr>
        <p:spPr>
          <a:xfrm>
            <a:off x="7083142" y="1313064"/>
            <a:ext cx="438136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Quality is not limited to the biggest markets</a:t>
            </a:r>
            <a:r>
              <a:rPr lang="en-IN" dirty="0"/>
              <a:t>—several smaller markets show strong restaurant ratings.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The Philippines leads</a:t>
            </a:r>
            <a:r>
              <a:rPr lang="en-IN" dirty="0"/>
              <a:t> with an impressive </a:t>
            </a:r>
            <a:r>
              <a:rPr lang="en-IN" b="1" dirty="0"/>
              <a:t>4.5 average rating</a:t>
            </a:r>
            <a:r>
              <a:rPr lang="en-IN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Indonesia, New Zealand and Turkey</a:t>
            </a:r>
            <a:r>
              <a:rPr lang="en-IN" dirty="0"/>
              <a:t> follow closely at </a:t>
            </a:r>
            <a:r>
              <a:rPr lang="en-IN" b="1" dirty="0"/>
              <a:t>4.3</a:t>
            </a:r>
            <a:r>
              <a:rPr lang="en-IN" dirty="0"/>
              <a:t>, showing consistently strong customer satisfaction.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South Africa, UAE and the UK</a:t>
            </a:r>
            <a:r>
              <a:rPr lang="en-IN" dirty="0"/>
              <a:t> also maintain solid ratings of </a:t>
            </a:r>
            <a:r>
              <a:rPr lang="en-IN" b="1" dirty="0"/>
              <a:t>4.1–4.2</a:t>
            </a:r>
            <a:r>
              <a:rPr lang="en-IN" dirty="0"/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Takeaway:</a:t>
            </a:r>
            <a:r>
              <a:rPr lang="en-IN" dirty="0"/>
              <a:t> Strong ratings across diverse markets suggest that </a:t>
            </a:r>
            <a:r>
              <a:rPr lang="en-IN" b="1" dirty="0"/>
              <a:t>quality-led markets can be attractive expansion opportunities</a:t>
            </a:r>
            <a:r>
              <a:rPr lang="en-IN"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6341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/>
              <a:t>WIN CUSTOMERS THROUGH THE RIGHT CUISINE AND DIGITAL EXPERIENCE</a:t>
            </a:r>
            <a:endParaRPr lang="en-US" sz="2400" b="1" dirty="0">
              <a:solidFill>
                <a:srgbClr val="181E2D"/>
              </a:solidFill>
              <a:latin typeface="Aptos Display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23956" y="1047513"/>
            <a:ext cx="1375698" cy="355808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1315" y="1051770"/>
            <a:ext cx="104254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E62D50"/>
                </a:solidFill>
                <a:latin typeface="Aptos"/>
              </a:rPr>
              <a:t>CUISINE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5" y="1546946"/>
            <a:ext cx="5166360" cy="253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Focus on high-potential cuisines:</a:t>
            </a:r>
            <a:r>
              <a:rPr lang="en-IN" dirty="0"/>
              <a:t> Modern Indian, European, Rajasthani, Seafood, Indian and Mediterranean.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Modern Indian stands out</a:t>
            </a:r>
            <a:r>
              <a:rPr lang="en-IN" dirty="0"/>
              <a:t>, combining a strong </a:t>
            </a:r>
            <a:r>
              <a:rPr lang="en-IN" b="1" dirty="0"/>
              <a:t>~4.37 average rating</a:t>
            </a:r>
            <a:r>
              <a:rPr lang="en-IN" dirty="0"/>
              <a:t> with high customer engagement.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Less crowded cuisines tend to perform better</a:t>
            </a:r>
            <a:r>
              <a:rPr lang="en-IN" dirty="0"/>
              <a:t>, creating an opportunity to differentiate.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7910227" y="1064511"/>
            <a:ext cx="2010149" cy="430426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10301" y="1108507"/>
            <a:ext cx="191007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solidFill>
                  <a:srgbClr val="E62D50"/>
                </a:solidFill>
                <a:latin typeface="Aptos"/>
              </a:rPr>
              <a:t>DIGITAL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3666" y="1641455"/>
            <a:ext cx="5074920" cy="1985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Online delivery lifts ratings:</a:t>
            </a:r>
            <a:r>
              <a:rPr lang="en-IN" dirty="0"/>
              <a:t> </a:t>
            </a:r>
            <a:r>
              <a:rPr lang="en-IN" b="1" dirty="0"/>
              <a:t>3.29 vs 2.75</a:t>
            </a:r>
            <a:r>
              <a:rPr lang="en-IN" dirty="0"/>
              <a:t> without delivery.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/>
              <a:t>Table booking performs even better:</a:t>
            </a:r>
            <a:r>
              <a:rPr lang="en-IN" dirty="0"/>
              <a:t> </a:t>
            </a:r>
            <a:r>
              <a:rPr lang="en-IN" b="1" dirty="0"/>
              <a:t>3.48 vs 2.81</a:t>
            </a:r>
            <a:r>
              <a:rPr lang="en-IN" dirty="0"/>
              <a:t> without the service.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Both services are </a:t>
            </a:r>
            <a:r>
              <a:rPr lang="en-IN" b="1" dirty="0"/>
              <a:t>strongly associated with higher customer ratings</a:t>
            </a:r>
            <a:r>
              <a:rPr lang="en-IN" dirty="0"/>
              <a:t> in the dataset.</a:t>
            </a:r>
          </a:p>
          <a:p>
            <a:pPr>
              <a:spcAft>
                <a:spcPts val="900"/>
              </a:spcAft>
              <a:defRPr sz="1500">
                <a:solidFill>
                  <a:srgbClr val="232732"/>
                </a:solidFill>
                <a:latin typeface="Aptos"/>
              </a:defRPr>
            </a:pP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731519" y="4343400"/>
            <a:ext cx="9994595" cy="502920"/>
          </a:xfrm>
          <a:prstGeom prst="roundRect">
            <a:avLst/>
          </a:prstGeom>
          <a:solidFill>
            <a:srgbClr val="FBF2F5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425696"/>
            <a:ext cx="999459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Recommendation: launch new restaurants with an intentional cuisine proposition plus online delivery and table booking.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19" y="5257800"/>
            <a:ext cx="10224027" cy="548640"/>
          </a:xfrm>
          <a:prstGeom prst="roundRect">
            <a:avLst/>
          </a:prstGeom>
          <a:solidFill>
            <a:srgbClr val="FBF2F5"/>
          </a:solidFill>
          <a:ln>
            <a:solidFill>
              <a:srgbClr val="E6A0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7970" y="5349240"/>
            <a:ext cx="1039880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81E2D"/>
                </a:solidFill>
                <a:latin typeface="Aptos"/>
              </a:rPr>
              <a:t>Premium positioning is also supported by the data: average rating increases from ~2.4 in Price Range 1 to ~3.8 in Price Range 4</a:t>
            </a:r>
            <a:r>
              <a:rPr sz="1200" b="1" dirty="0">
                <a:solidFill>
                  <a:srgbClr val="181E2D"/>
                </a:solidFill>
                <a:latin typeface="Aptos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8445" y="52631"/>
            <a:ext cx="82495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400" b="1" dirty="0"/>
              <a:t>MANAGEMENT DASHBOARD: TURNING INSIGHTS INTO ACTION</a:t>
            </a:r>
            <a:endParaRPr lang="en-US" sz="2400" b="1" dirty="0">
              <a:solidFill>
                <a:srgbClr val="181E2D"/>
              </a:solidFill>
              <a:latin typeface="Aptos Display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0C1345-BAAF-B618-0845-760F412FB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4296"/>
            <a:ext cx="12192000" cy="63963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984" y="174159"/>
            <a:ext cx="869385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/>
              <a:t>FROM INSIGHT TO ACTION: WHERE SHOULD ZOMATO FOCUS NEXT</a:t>
            </a:r>
            <a:endParaRPr lang="en-US" sz="2400" b="1" dirty="0">
              <a:latin typeface="Aptos Display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D2D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4358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7802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1246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946904"/>
            <a:ext cx="530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715000"/>
            <a:ext cx="10652760" cy="59436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806440"/>
            <a:ext cx="975183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latin typeface="Aptos"/>
              </a:rPr>
              <a:t>Bottom line: move from “where are there restaurants?” to “where can we win with a differentiated, high-quality offer?”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6E05DC-8FF4-BEA1-89A6-F43390662456}"/>
              </a:ext>
            </a:extLst>
          </p:cNvPr>
          <p:cNvSpPr txBox="1"/>
          <p:nvPr/>
        </p:nvSpPr>
        <p:spPr>
          <a:xfrm>
            <a:off x="288984" y="809983"/>
            <a:ext cx="1115567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From market opportunity to successful expansion</a:t>
            </a:r>
          </a:p>
          <a:p>
            <a:r>
              <a:rPr lang="en-IN" b="1" dirty="0"/>
              <a:t>1. Start with the strongest markets</a:t>
            </a:r>
            <a:br>
              <a:rPr lang="en-IN" dirty="0"/>
            </a:br>
            <a:r>
              <a:rPr lang="en-IN" dirty="0"/>
              <a:t>→ Begin where the analysis already shows promise: </a:t>
            </a:r>
            <a:r>
              <a:rPr lang="en-IN" b="1" dirty="0"/>
              <a:t>Canada, Singapore, Sri Lanka and Australia</a:t>
            </a:r>
            <a:r>
              <a:rPr lang="en-IN" dirty="0"/>
              <a:t>. These markets combine good restaurant quality with attractive expansion potential.</a:t>
            </a:r>
          </a:p>
          <a:p>
            <a:r>
              <a:rPr lang="en-IN" b="1" dirty="0"/>
              <a:t>2. Then find the right cities</a:t>
            </a:r>
            <a:br>
              <a:rPr lang="en-IN" dirty="0"/>
            </a:br>
            <a:r>
              <a:rPr lang="en-IN" dirty="0"/>
              <a:t>→ A country alone is not enough. Identify cities where </a:t>
            </a:r>
            <a:r>
              <a:rPr lang="en-IN" b="1" dirty="0"/>
              <a:t>customer demand is strong, ratings are healthy and competition is still manageable</a:t>
            </a:r>
            <a:r>
              <a:rPr lang="en-IN" dirty="0"/>
              <a:t>.</a:t>
            </a:r>
          </a:p>
          <a:p>
            <a:r>
              <a:rPr lang="en-IN" b="1" dirty="0"/>
              <a:t>3. Validate before committing capital</a:t>
            </a:r>
            <a:br>
              <a:rPr lang="en-IN" dirty="0"/>
            </a:br>
            <a:r>
              <a:rPr lang="en-IN" dirty="0"/>
              <a:t>→ Before investing heavily, assess the local landscape: </a:t>
            </a:r>
            <a:r>
              <a:rPr lang="en-IN" b="1" dirty="0"/>
              <a:t>how many restaurants exist, which cuisines fit local demand, pricing levels and the strength of competitors</a:t>
            </a:r>
            <a:r>
              <a:rPr lang="en-IN" dirty="0"/>
              <a:t>.</a:t>
            </a:r>
          </a:p>
          <a:p>
            <a:r>
              <a:rPr lang="en-IN" b="1" dirty="0"/>
              <a:t>4. Start small, then scale</a:t>
            </a:r>
            <a:br>
              <a:rPr lang="en-IN" dirty="0"/>
            </a:br>
            <a:r>
              <a:rPr lang="en-IN" dirty="0"/>
              <a:t>→ Enter through a </a:t>
            </a:r>
            <a:r>
              <a:rPr lang="en-IN" b="1" dirty="0"/>
              <a:t>focused pilot</a:t>
            </a:r>
            <a:r>
              <a:rPr lang="en-IN" dirty="0"/>
              <a:t>, measure customer response and business performance, and use those results to decide where to expand further.</a:t>
            </a:r>
          </a:p>
          <a:p>
            <a:endParaRPr lang="en-IN" b="1" dirty="0"/>
          </a:p>
          <a:p>
            <a:r>
              <a:rPr lang="en-IN" b="1" dirty="0"/>
              <a:t>The strategy is simple: choose the right market, pinpoint the right city, validate the opportunity, and scale only where the numbers prove it.</a:t>
            </a:r>
            <a:endParaRPr lang="en-IN" dirty="0"/>
          </a:p>
          <a:p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2071657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IN" sz="2400" b="1" dirty="0">
                <a:solidFill>
                  <a:srgbClr val="181E2D"/>
                </a:solidFill>
                <a:latin typeface="Aptos Display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65392"/>
            <a:ext cx="11155680" cy="9144"/>
          </a:xfrm>
          <a:prstGeom prst="rect">
            <a:avLst/>
          </a:prstGeom>
          <a:solidFill>
            <a:srgbClr val="A5A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57745" y="1061989"/>
            <a:ext cx="1835701" cy="326613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2818" y="1076377"/>
            <a:ext cx="142474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dirty="0">
                <a:solidFill>
                  <a:srgbClr val="E62D50"/>
                </a:solidFill>
                <a:latin typeface="Aptos"/>
              </a:rPr>
              <a:t>KEY TAKEAWAY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08760"/>
            <a:ext cx="82809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>
                <a:latin typeface="Aptos Display" panose="020B0004020202020204" pitchFamily="34" charset="0"/>
              </a:rPr>
              <a:t>The analysis points to a selective expansion strategy—prioritizing markets with strong restaurant quality, manageable competition, and clear opportunities to differentiate.</a:t>
            </a:r>
            <a:endParaRPr b="1" dirty="0">
              <a:solidFill>
                <a:srgbClr val="181E2D"/>
              </a:solidFill>
              <a:latin typeface="Aptos Display" panose="020B00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3296672"/>
            <a:ext cx="100584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 Display" panose="020B0004020202020204" pitchFamily="34" charset="0"/>
              </a:rPr>
              <a:t>Zomato restaurant dataset and project workbook supplied for the analysis.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 Display" panose="020B0004020202020204" pitchFamily="34" charset="0"/>
              </a:rPr>
              <a:t>Spreadsheet Project Guidelines / PPT Sample Approach supplied with the project.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latin typeface="Aptos Display" panose="020B0004020202020204" pitchFamily="34" charset="0"/>
              </a:rPr>
              <a:t>Analysis based on cleaned project data and the stated pivot-table summaries.</a:t>
            </a:r>
          </a:p>
          <a:p>
            <a:pPr>
              <a:spcAft>
                <a:spcPts val="900"/>
              </a:spcAft>
              <a:defRPr sz="1400">
                <a:solidFill>
                  <a:srgbClr val="232732"/>
                </a:solidFill>
                <a:latin typeface="Aptos"/>
              </a:defRPr>
            </a:pPr>
            <a:endParaRPr sz="1600" dirty="0"/>
          </a:p>
        </p:txBody>
      </p:sp>
      <p:sp>
        <p:nvSpPr>
          <p:cNvPr id="13" name="Rounded Rectangle 12"/>
          <p:cNvSpPr/>
          <p:nvPr/>
        </p:nvSpPr>
        <p:spPr>
          <a:xfrm>
            <a:off x="4265676" y="5539032"/>
            <a:ext cx="3335274" cy="861768"/>
          </a:xfrm>
          <a:prstGeom prst="roundRect">
            <a:avLst/>
          </a:prstGeom>
          <a:solidFill>
            <a:srgbClr val="FBF2F5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501" y="5716403"/>
            <a:ext cx="30876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1" dirty="0"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THANK YOU  —  QUESTIONS WELCOME</a:t>
            </a:r>
            <a:endParaRPr lang="en-US" b="1" dirty="0">
              <a:latin typeface="Aptos" panose="020B0004020202020204" pitchFamily="34" charset="0"/>
            </a:endParaRPr>
          </a:p>
        </p:txBody>
      </p:sp>
      <p:sp>
        <p:nvSpPr>
          <p:cNvPr id="16" name="Rounded Rectangle 6">
            <a:extLst>
              <a:ext uri="{FF2B5EF4-FFF2-40B4-BE49-F238E27FC236}">
                <a16:creationId xmlns:a16="http://schemas.microsoft.com/office/drawing/2014/main" id="{4621EBA5-96DC-30D8-D38D-619614C704D8}"/>
              </a:ext>
            </a:extLst>
          </p:cNvPr>
          <p:cNvSpPr/>
          <p:nvPr/>
        </p:nvSpPr>
        <p:spPr>
          <a:xfrm>
            <a:off x="862818" y="2770819"/>
            <a:ext cx="2814969" cy="448944"/>
          </a:xfrm>
          <a:prstGeom prst="roundRect">
            <a:avLst/>
          </a:prstGeom>
          <a:solidFill>
            <a:srgbClr val="FDE9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604067-E160-6080-1052-61257E8E913A}"/>
              </a:ext>
            </a:extLst>
          </p:cNvPr>
          <p:cNvSpPr txBox="1"/>
          <p:nvPr/>
        </p:nvSpPr>
        <p:spPr>
          <a:xfrm>
            <a:off x="862818" y="2854992"/>
            <a:ext cx="33444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E62D50"/>
                </a:solidFill>
                <a:latin typeface="Aptos"/>
              </a:rPr>
              <a:t>SOURCE / ACKNOWLEDGEMENT</a:t>
            </a:r>
          </a:p>
          <a:p>
            <a:endParaRPr lang="en-IN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1481</Words>
  <Application>Microsoft Office PowerPoint</Application>
  <PresentationFormat>Widescreen</PresentationFormat>
  <Paragraphs>186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Zomato Restaurant Analytics</dc:title>
  <dc:subject>Management presentation based on Zomato restaurant dataset</dc:subject>
  <dc:creator>Chilika Jena</dc:creator>
  <cp:keywords>Zomato, restaurant analytics, Excel, dashboard, market expansion</cp:keywords>
  <dc:description>generated using python-pptx</dc:description>
  <cp:lastModifiedBy>Chilika  Jena</cp:lastModifiedBy>
  <cp:revision>7</cp:revision>
  <dcterms:created xsi:type="dcterms:W3CDTF">2013-01-27T09:14:16Z</dcterms:created>
  <dcterms:modified xsi:type="dcterms:W3CDTF">2026-09-12T16:30:38Z</dcterms:modified>
  <cp:category/>
</cp:coreProperties>
</file>